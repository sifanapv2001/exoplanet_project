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548" autoAdjust="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https://exoplanetarchive.ipac.caltech.edu/cgi-bin/TblView/nph-tblView?app=ExoTbls&amp;config=TOI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https://exoplanetarchive.ipac.caltech.edu/cgi-bin/TblView/nph-tblView?app=ExoTbls&amp;config=TOI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3BDBD4-8827-40D1-BF1C-299240008188}" type="doc">
      <dgm:prSet loTypeId="urn:microsoft.com/office/officeart/2018/2/layout/IconVerticalSolidList" loCatId="icon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E37F2C40-C19B-4C00-B470-1E5799418E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Problem : </a:t>
          </a:r>
          <a:r>
            <a:rPr lang="en-IN" dirty="0"/>
            <a:t>Identify whether astronomical observations correspond to exoplanet-related classes.</a:t>
          </a:r>
          <a:endParaRPr lang="en-US" dirty="0"/>
        </a:p>
      </dgm:t>
    </dgm:pt>
    <dgm:pt modelId="{4D8DC707-F188-4747-A45B-DFE2010C22D7}" type="parTrans" cxnId="{BB5C77B8-7944-4780-8D4E-F76B154D4487}">
      <dgm:prSet/>
      <dgm:spPr/>
      <dgm:t>
        <a:bodyPr/>
        <a:lstStyle/>
        <a:p>
          <a:endParaRPr lang="en-US"/>
        </a:p>
      </dgm:t>
    </dgm:pt>
    <dgm:pt modelId="{F4BEB7C4-7D6B-406D-9C82-549A3B529B05}" type="sibTrans" cxnId="{BB5C77B8-7944-4780-8D4E-F76B154D4487}">
      <dgm:prSet/>
      <dgm:spPr/>
      <dgm:t>
        <a:bodyPr/>
        <a:lstStyle/>
        <a:p>
          <a:endParaRPr lang="en-US"/>
        </a:p>
      </dgm:t>
    </dgm:pt>
    <dgm:pt modelId="{1C3EDE11-D0CA-4DC4-9A81-E33771EDBD5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Data : </a:t>
          </a:r>
          <a:r>
            <a:rPr lang="en-IN" dirty="0"/>
            <a:t>NASA/TESS exoplanet candidate observations with stellar and planetary measurements.</a:t>
          </a:r>
          <a:endParaRPr lang="en-US" dirty="0"/>
        </a:p>
      </dgm:t>
    </dgm:pt>
    <dgm:pt modelId="{6E47D821-5F26-4190-86F1-E892B778BE3B}" type="parTrans" cxnId="{6946DB6E-9E12-4C08-A4E4-0E35FFD25561}">
      <dgm:prSet/>
      <dgm:spPr/>
      <dgm:t>
        <a:bodyPr/>
        <a:lstStyle/>
        <a:p>
          <a:endParaRPr lang="en-US"/>
        </a:p>
      </dgm:t>
    </dgm:pt>
    <dgm:pt modelId="{BCA20C3F-673F-4A63-BB2E-64DE0FE6B3DB}" type="sibTrans" cxnId="{6946DB6E-9E12-4C08-A4E4-0E35FFD25561}">
      <dgm:prSet/>
      <dgm:spPr/>
      <dgm:t>
        <a:bodyPr/>
        <a:lstStyle/>
        <a:p>
          <a:endParaRPr lang="en-US"/>
        </a:p>
      </dgm:t>
    </dgm:pt>
    <dgm:pt modelId="{86BCECF2-BC24-44D0-8A95-39453C58E4B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Approach : </a:t>
          </a:r>
          <a:r>
            <a:rPr lang="en-IN" dirty="0"/>
            <a:t>Cleaning | EDA | feature engineering | model training | tuning | evaluation.</a:t>
          </a:r>
          <a:endParaRPr lang="en-US" dirty="0"/>
        </a:p>
      </dgm:t>
    </dgm:pt>
    <dgm:pt modelId="{FB17397D-6232-454E-8625-9A4F143CE2CB}" type="parTrans" cxnId="{1E00B6AC-EF01-4E6A-A53B-876C71FD72AD}">
      <dgm:prSet/>
      <dgm:spPr/>
      <dgm:t>
        <a:bodyPr/>
        <a:lstStyle/>
        <a:p>
          <a:endParaRPr lang="en-US"/>
        </a:p>
      </dgm:t>
    </dgm:pt>
    <dgm:pt modelId="{A2A22E44-A71E-426F-978B-06C79B378A48}" type="sibTrans" cxnId="{1E00B6AC-EF01-4E6A-A53B-876C71FD72AD}">
      <dgm:prSet/>
      <dgm:spPr/>
      <dgm:t>
        <a:bodyPr/>
        <a:lstStyle/>
        <a:p>
          <a:endParaRPr lang="en-US"/>
        </a:p>
      </dgm:t>
    </dgm:pt>
    <dgm:pt modelId="{11BF5347-C46C-4011-BC7D-806EE02E65C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Output taken : </a:t>
          </a:r>
          <a:r>
            <a:rPr lang="en-IN" dirty="0"/>
            <a:t>Binary classification + multiclass classification + Flask deployment.</a:t>
          </a:r>
          <a:endParaRPr lang="en-US" dirty="0"/>
        </a:p>
      </dgm:t>
    </dgm:pt>
    <dgm:pt modelId="{2346FE83-8497-4327-8188-14789387B1BE}" type="parTrans" cxnId="{49A795EC-F3CC-429B-9F16-A9AB0E407051}">
      <dgm:prSet/>
      <dgm:spPr/>
      <dgm:t>
        <a:bodyPr/>
        <a:lstStyle/>
        <a:p>
          <a:endParaRPr lang="en-US"/>
        </a:p>
      </dgm:t>
    </dgm:pt>
    <dgm:pt modelId="{DB706637-4260-4C15-83FF-E08F3B9C4661}" type="sibTrans" cxnId="{49A795EC-F3CC-429B-9F16-A9AB0E407051}">
      <dgm:prSet/>
      <dgm:spPr/>
      <dgm:t>
        <a:bodyPr/>
        <a:lstStyle/>
        <a:p>
          <a:endParaRPr lang="en-US"/>
        </a:p>
      </dgm:t>
    </dgm:pt>
    <dgm:pt modelId="{BFFAE73F-F886-4CAE-ABCC-E8030A926F21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Problem type </a:t>
          </a:r>
          <a:r>
            <a:rPr lang="en-US" dirty="0"/>
            <a:t>: Classification in Machine Learning</a:t>
          </a:r>
          <a:endParaRPr lang="en-IN" dirty="0"/>
        </a:p>
      </dgm:t>
    </dgm:pt>
    <dgm:pt modelId="{335BE08D-2C25-4DE8-9ECB-3B38D2691F2F}" type="parTrans" cxnId="{52E16CBC-FF9E-4C64-9420-29D0BE9F4D97}">
      <dgm:prSet/>
      <dgm:spPr/>
      <dgm:t>
        <a:bodyPr/>
        <a:lstStyle/>
        <a:p>
          <a:endParaRPr lang="en-IN"/>
        </a:p>
      </dgm:t>
    </dgm:pt>
    <dgm:pt modelId="{FDD19443-A258-4393-8604-F4F1650B109A}" type="sibTrans" cxnId="{52E16CBC-FF9E-4C64-9420-29D0BE9F4D97}">
      <dgm:prSet/>
      <dgm:spPr/>
      <dgm:t>
        <a:bodyPr/>
        <a:lstStyle/>
        <a:p>
          <a:endParaRPr lang="en-IN"/>
        </a:p>
      </dgm:t>
    </dgm:pt>
    <dgm:pt modelId="{7B2E4367-8E6B-4130-BB32-5EDE91101F3D}" type="pres">
      <dgm:prSet presAssocID="{183BDBD4-8827-40D1-BF1C-299240008188}" presName="root" presStyleCnt="0">
        <dgm:presLayoutVars>
          <dgm:dir/>
          <dgm:resizeHandles val="exact"/>
        </dgm:presLayoutVars>
      </dgm:prSet>
      <dgm:spPr/>
    </dgm:pt>
    <dgm:pt modelId="{CCB7E62D-E98A-4578-9747-5CFAA3B5C60B}" type="pres">
      <dgm:prSet presAssocID="{E37F2C40-C19B-4C00-B470-1E5799418E56}" presName="compNode" presStyleCnt="0"/>
      <dgm:spPr/>
    </dgm:pt>
    <dgm:pt modelId="{5E780C5B-C33B-4B37-AC65-CDA167ACB71A}" type="pres">
      <dgm:prSet presAssocID="{E37F2C40-C19B-4C00-B470-1E5799418E56}" presName="bgRect" presStyleLbl="bgShp" presStyleIdx="0" presStyleCnt="5"/>
      <dgm:spPr/>
    </dgm:pt>
    <dgm:pt modelId="{20C4CCE0-EAC8-4253-9CAA-8D8481C05BE3}" type="pres">
      <dgm:prSet presAssocID="{E37F2C40-C19B-4C00-B470-1E5799418E56}" presName="iconRect" presStyleLbl="node1" presStyleIdx="0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 with solid fill"/>
        </a:ext>
      </dgm:extLst>
    </dgm:pt>
    <dgm:pt modelId="{4BFF288F-B689-4078-9A98-4B01D0E093CC}" type="pres">
      <dgm:prSet presAssocID="{E37F2C40-C19B-4C00-B470-1E5799418E56}" presName="spaceRect" presStyleCnt="0"/>
      <dgm:spPr/>
    </dgm:pt>
    <dgm:pt modelId="{ED97A56A-D745-4E68-8165-0080F2859809}" type="pres">
      <dgm:prSet presAssocID="{E37F2C40-C19B-4C00-B470-1E5799418E56}" presName="parTx" presStyleLbl="revTx" presStyleIdx="0" presStyleCnt="5">
        <dgm:presLayoutVars>
          <dgm:chMax val="0"/>
          <dgm:chPref val="0"/>
        </dgm:presLayoutVars>
      </dgm:prSet>
      <dgm:spPr/>
    </dgm:pt>
    <dgm:pt modelId="{FD5029E8-95B2-4284-AADF-45CCAD66D768}" type="pres">
      <dgm:prSet presAssocID="{F4BEB7C4-7D6B-406D-9C82-549A3B529B05}" presName="sibTrans" presStyleCnt="0"/>
      <dgm:spPr/>
    </dgm:pt>
    <dgm:pt modelId="{9A5FC2CC-FB63-4AC0-B14B-A12B30B19DB0}" type="pres">
      <dgm:prSet presAssocID="{BFFAE73F-F886-4CAE-ABCC-E8030A926F21}" presName="compNode" presStyleCnt="0"/>
      <dgm:spPr/>
    </dgm:pt>
    <dgm:pt modelId="{2EB45D52-19BB-47C6-95B7-8162F4EB1490}" type="pres">
      <dgm:prSet presAssocID="{BFFAE73F-F886-4CAE-ABCC-E8030A926F21}" presName="bgRect" presStyleLbl="bgShp" presStyleIdx="1" presStyleCnt="5"/>
      <dgm:spPr/>
    </dgm:pt>
    <dgm:pt modelId="{32766462-7405-4B99-9130-F4320E1D818C}" type="pres">
      <dgm:prSet presAssocID="{BFFAE73F-F886-4CAE-ABCC-E8030A926F21}" presName="iconRect" presStyleLbl="nod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 with solid fill"/>
        </a:ext>
      </dgm:extLst>
    </dgm:pt>
    <dgm:pt modelId="{9BD0CC72-763F-4C3E-9563-318908DBB96B}" type="pres">
      <dgm:prSet presAssocID="{BFFAE73F-F886-4CAE-ABCC-E8030A926F21}" presName="spaceRect" presStyleCnt="0"/>
      <dgm:spPr/>
    </dgm:pt>
    <dgm:pt modelId="{0429450F-C68E-4E8A-BE2A-C9D25A8EB10D}" type="pres">
      <dgm:prSet presAssocID="{BFFAE73F-F886-4CAE-ABCC-E8030A926F21}" presName="parTx" presStyleLbl="revTx" presStyleIdx="1" presStyleCnt="5">
        <dgm:presLayoutVars>
          <dgm:chMax val="0"/>
          <dgm:chPref val="0"/>
        </dgm:presLayoutVars>
      </dgm:prSet>
      <dgm:spPr/>
    </dgm:pt>
    <dgm:pt modelId="{2ED2D50B-ACF4-4661-9947-49679DBA25F8}" type="pres">
      <dgm:prSet presAssocID="{FDD19443-A258-4393-8604-F4F1650B109A}" presName="sibTrans" presStyleCnt="0"/>
      <dgm:spPr/>
    </dgm:pt>
    <dgm:pt modelId="{4F3DB58E-254C-4243-ADE3-8A01D34C3C54}" type="pres">
      <dgm:prSet presAssocID="{1C3EDE11-D0CA-4DC4-9A81-E33771EDBD55}" presName="compNode" presStyleCnt="0"/>
      <dgm:spPr/>
    </dgm:pt>
    <dgm:pt modelId="{DB92659A-3FA7-45F1-8F7B-CF868E04183D}" type="pres">
      <dgm:prSet presAssocID="{1C3EDE11-D0CA-4DC4-9A81-E33771EDBD55}" presName="bgRect" presStyleLbl="bgShp" presStyleIdx="2" presStyleCnt="5"/>
      <dgm:spPr/>
    </dgm:pt>
    <dgm:pt modelId="{A78A14A2-5EFF-41E4-BCF6-BB2C5F7F0242}" type="pres">
      <dgm:prSet presAssocID="{1C3EDE11-D0CA-4DC4-9A81-E33771EDBD55}" presName="iconRect" presStyleLbl="node1" presStyleIdx="2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 with solid fill"/>
        </a:ext>
      </dgm:extLst>
    </dgm:pt>
    <dgm:pt modelId="{6D28C011-9905-4D62-BD7E-AAE793353062}" type="pres">
      <dgm:prSet presAssocID="{1C3EDE11-D0CA-4DC4-9A81-E33771EDBD55}" presName="spaceRect" presStyleCnt="0"/>
      <dgm:spPr/>
    </dgm:pt>
    <dgm:pt modelId="{AFC0C39B-BBD1-42D0-A5B0-1B637700FFB3}" type="pres">
      <dgm:prSet presAssocID="{1C3EDE11-D0CA-4DC4-9A81-E33771EDBD55}" presName="parTx" presStyleLbl="revTx" presStyleIdx="2" presStyleCnt="5">
        <dgm:presLayoutVars>
          <dgm:chMax val="0"/>
          <dgm:chPref val="0"/>
        </dgm:presLayoutVars>
      </dgm:prSet>
      <dgm:spPr/>
    </dgm:pt>
    <dgm:pt modelId="{A038DD1C-A10A-4173-908B-18DF1C1E212D}" type="pres">
      <dgm:prSet presAssocID="{BCA20C3F-673F-4A63-BB2E-64DE0FE6B3DB}" presName="sibTrans" presStyleCnt="0"/>
      <dgm:spPr/>
    </dgm:pt>
    <dgm:pt modelId="{978F34D9-EFAB-4D4D-B369-207E861FEC76}" type="pres">
      <dgm:prSet presAssocID="{86BCECF2-BC24-44D0-8A95-39453C58E4B3}" presName="compNode" presStyleCnt="0"/>
      <dgm:spPr/>
    </dgm:pt>
    <dgm:pt modelId="{FB470E51-9971-4B03-90C8-94435823EF74}" type="pres">
      <dgm:prSet presAssocID="{86BCECF2-BC24-44D0-8A95-39453C58E4B3}" presName="bgRect" presStyleLbl="bgShp" presStyleIdx="3" presStyleCnt="5"/>
      <dgm:spPr/>
    </dgm:pt>
    <dgm:pt modelId="{092ADEF4-76B6-4424-9901-49C575085B05}" type="pres">
      <dgm:prSet presAssocID="{86BCECF2-BC24-44D0-8A95-39453C58E4B3}" presName="iconRect" presStyleLbl="node1" presStyleIdx="3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 male with solid fill"/>
        </a:ext>
      </dgm:extLst>
    </dgm:pt>
    <dgm:pt modelId="{02F7A12D-923F-48D4-A57A-EFC3D0062C59}" type="pres">
      <dgm:prSet presAssocID="{86BCECF2-BC24-44D0-8A95-39453C58E4B3}" presName="spaceRect" presStyleCnt="0"/>
      <dgm:spPr/>
    </dgm:pt>
    <dgm:pt modelId="{61024244-BFB6-417B-A04C-1E84401D704C}" type="pres">
      <dgm:prSet presAssocID="{86BCECF2-BC24-44D0-8A95-39453C58E4B3}" presName="parTx" presStyleLbl="revTx" presStyleIdx="3" presStyleCnt="5">
        <dgm:presLayoutVars>
          <dgm:chMax val="0"/>
          <dgm:chPref val="0"/>
        </dgm:presLayoutVars>
      </dgm:prSet>
      <dgm:spPr/>
    </dgm:pt>
    <dgm:pt modelId="{01574DDD-9C27-4747-98EE-C982464739B2}" type="pres">
      <dgm:prSet presAssocID="{A2A22E44-A71E-426F-978B-06C79B378A48}" presName="sibTrans" presStyleCnt="0"/>
      <dgm:spPr/>
    </dgm:pt>
    <dgm:pt modelId="{BC0AD4E3-2714-4DCC-B6E0-FF97C9F02C27}" type="pres">
      <dgm:prSet presAssocID="{11BF5347-C46C-4011-BC7D-806EE02E65C5}" presName="compNode" presStyleCnt="0"/>
      <dgm:spPr/>
    </dgm:pt>
    <dgm:pt modelId="{2ED25C8E-4908-469C-B75D-DC0842EA1218}" type="pres">
      <dgm:prSet presAssocID="{11BF5347-C46C-4011-BC7D-806EE02E65C5}" presName="bgRect" presStyleLbl="bgShp" presStyleIdx="4" presStyleCnt="5" custLinFactNeighborY="1453"/>
      <dgm:spPr/>
    </dgm:pt>
    <dgm:pt modelId="{4D7E2AF3-920E-467D-A3F4-C039B3FFD0A0}" type="pres">
      <dgm:prSet presAssocID="{11BF5347-C46C-4011-BC7D-806EE02E65C5}" presName="iconRect" presStyleLbl="nod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ternet with solid fill"/>
        </a:ext>
      </dgm:extLst>
    </dgm:pt>
    <dgm:pt modelId="{F7D1975E-13B2-40D0-89E0-CF1AC2AE2A7D}" type="pres">
      <dgm:prSet presAssocID="{11BF5347-C46C-4011-BC7D-806EE02E65C5}" presName="spaceRect" presStyleCnt="0"/>
      <dgm:spPr/>
    </dgm:pt>
    <dgm:pt modelId="{5F0E42BC-8491-4E16-900E-EC5986C9D557}" type="pres">
      <dgm:prSet presAssocID="{11BF5347-C46C-4011-BC7D-806EE02E65C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3E1B10B-21EA-4B59-8CAA-D4D367A00FE1}" type="presOf" srcId="{E37F2C40-C19B-4C00-B470-1E5799418E56}" destId="{ED97A56A-D745-4E68-8165-0080F2859809}" srcOrd="0" destOrd="0" presId="urn:microsoft.com/office/officeart/2018/2/layout/IconVerticalSolidList"/>
    <dgm:cxn modelId="{19B26223-ABE6-473A-B915-2748B315A8D2}" type="presOf" srcId="{1C3EDE11-D0CA-4DC4-9A81-E33771EDBD55}" destId="{AFC0C39B-BBD1-42D0-A5B0-1B637700FFB3}" srcOrd="0" destOrd="0" presId="urn:microsoft.com/office/officeart/2018/2/layout/IconVerticalSolidList"/>
    <dgm:cxn modelId="{6BAADE63-28FB-424F-83B1-5286DF6DF4B4}" type="presOf" srcId="{BFFAE73F-F886-4CAE-ABCC-E8030A926F21}" destId="{0429450F-C68E-4E8A-BE2A-C9D25A8EB10D}" srcOrd="0" destOrd="0" presId="urn:microsoft.com/office/officeart/2018/2/layout/IconVerticalSolidList"/>
    <dgm:cxn modelId="{6946DB6E-9E12-4C08-A4E4-0E35FFD25561}" srcId="{183BDBD4-8827-40D1-BF1C-299240008188}" destId="{1C3EDE11-D0CA-4DC4-9A81-E33771EDBD55}" srcOrd="2" destOrd="0" parTransId="{6E47D821-5F26-4190-86F1-E892B778BE3B}" sibTransId="{BCA20C3F-673F-4A63-BB2E-64DE0FE6B3DB}"/>
    <dgm:cxn modelId="{E8E7A150-74CC-4BDB-BBC9-2D904CD62155}" type="presOf" srcId="{11BF5347-C46C-4011-BC7D-806EE02E65C5}" destId="{5F0E42BC-8491-4E16-900E-EC5986C9D557}" srcOrd="0" destOrd="0" presId="urn:microsoft.com/office/officeart/2018/2/layout/IconVerticalSolidList"/>
    <dgm:cxn modelId="{1E00B6AC-EF01-4E6A-A53B-876C71FD72AD}" srcId="{183BDBD4-8827-40D1-BF1C-299240008188}" destId="{86BCECF2-BC24-44D0-8A95-39453C58E4B3}" srcOrd="3" destOrd="0" parTransId="{FB17397D-6232-454E-8625-9A4F143CE2CB}" sibTransId="{A2A22E44-A71E-426F-978B-06C79B378A48}"/>
    <dgm:cxn modelId="{BB5C77B8-7944-4780-8D4E-F76B154D4487}" srcId="{183BDBD4-8827-40D1-BF1C-299240008188}" destId="{E37F2C40-C19B-4C00-B470-1E5799418E56}" srcOrd="0" destOrd="0" parTransId="{4D8DC707-F188-4747-A45B-DFE2010C22D7}" sibTransId="{F4BEB7C4-7D6B-406D-9C82-549A3B529B05}"/>
    <dgm:cxn modelId="{52E16CBC-FF9E-4C64-9420-29D0BE9F4D97}" srcId="{183BDBD4-8827-40D1-BF1C-299240008188}" destId="{BFFAE73F-F886-4CAE-ABCC-E8030A926F21}" srcOrd="1" destOrd="0" parTransId="{335BE08D-2C25-4DE8-9ECB-3B38D2691F2F}" sibTransId="{FDD19443-A258-4393-8604-F4F1650B109A}"/>
    <dgm:cxn modelId="{EC364FC4-672A-4794-B565-6E2B73D9C9F3}" type="presOf" srcId="{183BDBD4-8827-40D1-BF1C-299240008188}" destId="{7B2E4367-8E6B-4130-BB32-5EDE91101F3D}" srcOrd="0" destOrd="0" presId="urn:microsoft.com/office/officeart/2018/2/layout/IconVerticalSolidList"/>
    <dgm:cxn modelId="{6805ECC9-ECDD-4111-BE89-6519C893E0CE}" type="presOf" srcId="{86BCECF2-BC24-44D0-8A95-39453C58E4B3}" destId="{61024244-BFB6-417B-A04C-1E84401D704C}" srcOrd="0" destOrd="0" presId="urn:microsoft.com/office/officeart/2018/2/layout/IconVerticalSolidList"/>
    <dgm:cxn modelId="{49A795EC-F3CC-429B-9F16-A9AB0E407051}" srcId="{183BDBD4-8827-40D1-BF1C-299240008188}" destId="{11BF5347-C46C-4011-BC7D-806EE02E65C5}" srcOrd="4" destOrd="0" parTransId="{2346FE83-8497-4327-8188-14789387B1BE}" sibTransId="{DB706637-4260-4C15-83FF-E08F3B9C4661}"/>
    <dgm:cxn modelId="{57E5D706-EB27-4D11-928A-B0753AB0D26E}" type="presParOf" srcId="{7B2E4367-8E6B-4130-BB32-5EDE91101F3D}" destId="{CCB7E62D-E98A-4578-9747-5CFAA3B5C60B}" srcOrd="0" destOrd="0" presId="urn:microsoft.com/office/officeart/2018/2/layout/IconVerticalSolidList"/>
    <dgm:cxn modelId="{C7686106-211B-47E7-BEF5-5F7930F774A3}" type="presParOf" srcId="{CCB7E62D-E98A-4578-9747-5CFAA3B5C60B}" destId="{5E780C5B-C33B-4B37-AC65-CDA167ACB71A}" srcOrd="0" destOrd="0" presId="urn:microsoft.com/office/officeart/2018/2/layout/IconVerticalSolidList"/>
    <dgm:cxn modelId="{79A29098-54D2-4AB7-9E6C-E2B13933A844}" type="presParOf" srcId="{CCB7E62D-E98A-4578-9747-5CFAA3B5C60B}" destId="{20C4CCE0-EAC8-4253-9CAA-8D8481C05BE3}" srcOrd="1" destOrd="0" presId="urn:microsoft.com/office/officeart/2018/2/layout/IconVerticalSolidList"/>
    <dgm:cxn modelId="{B61B5BD9-BAB2-4FBE-BE50-ED3539ACED06}" type="presParOf" srcId="{CCB7E62D-E98A-4578-9747-5CFAA3B5C60B}" destId="{4BFF288F-B689-4078-9A98-4B01D0E093CC}" srcOrd="2" destOrd="0" presId="urn:microsoft.com/office/officeart/2018/2/layout/IconVerticalSolidList"/>
    <dgm:cxn modelId="{0198A301-B213-4AF5-8AC6-46B9D8B79484}" type="presParOf" srcId="{CCB7E62D-E98A-4578-9747-5CFAA3B5C60B}" destId="{ED97A56A-D745-4E68-8165-0080F2859809}" srcOrd="3" destOrd="0" presId="urn:microsoft.com/office/officeart/2018/2/layout/IconVerticalSolidList"/>
    <dgm:cxn modelId="{BE28130A-A793-429D-92E0-A33DA470E4E5}" type="presParOf" srcId="{7B2E4367-8E6B-4130-BB32-5EDE91101F3D}" destId="{FD5029E8-95B2-4284-AADF-45CCAD66D768}" srcOrd="1" destOrd="0" presId="urn:microsoft.com/office/officeart/2018/2/layout/IconVerticalSolidList"/>
    <dgm:cxn modelId="{8DCADFCF-5E00-4D3A-9E67-B145904F0C16}" type="presParOf" srcId="{7B2E4367-8E6B-4130-BB32-5EDE91101F3D}" destId="{9A5FC2CC-FB63-4AC0-B14B-A12B30B19DB0}" srcOrd="2" destOrd="0" presId="urn:microsoft.com/office/officeart/2018/2/layout/IconVerticalSolidList"/>
    <dgm:cxn modelId="{59A8162C-F27D-4D6E-A2E1-BE6594B953F3}" type="presParOf" srcId="{9A5FC2CC-FB63-4AC0-B14B-A12B30B19DB0}" destId="{2EB45D52-19BB-47C6-95B7-8162F4EB1490}" srcOrd="0" destOrd="0" presId="urn:microsoft.com/office/officeart/2018/2/layout/IconVerticalSolidList"/>
    <dgm:cxn modelId="{9DA10FBE-F2C7-4883-994F-9ACB6572D188}" type="presParOf" srcId="{9A5FC2CC-FB63-4AC0-B14B-A12B30B19DB0}" destId="{32766462-7405-4B99-9130-F4320E1D818C}" srcOrd="1" destOrd="0" presId="urn:microsoft.com/office/officeart/2018/2/layout/IconVerticalSolidList"/>
    <dgm:cxn modelId="{C673401F-E562-4701-84F0-82DC0F1CF352}" type="presParOf" srcId="{9A5FC2CC-FB63-4AC0-B14B-A12B30B19DB0}" destId="{9BD0CC72-763F-4C3E-9563-318908DBB96B}" srcOrd="2" destOrd="0" presId="urn:microsoft.com/office/officeart/2018/2/layout/IconVerticalSolidList"/>
    <dgm:cxn modelId="{D8032575-E1EC-44AC-AF31-CC0EFCDDEBDD}" type="presParOf" srcId="{9A5FC2CC-FB63-4AC0-B14B-A12B30B19DB0}" destId="{0429450F-C68E-4E8A-BE2A-C9D25A8EB10D}" srcOrd="3" destOrd="0" presId="urn:microsoft.com/office/officeart/2018/2/layout/IconVerticalSolidList"/>
    <dgm:cxn modelId="{267911AA-B67C-4A8D-8855-EA8AA87807B9}" type="presParOf" srcId="{7B2E4367-8E6B-4130-BB32-5EDE91101F3D}" destId="{2ED2D50B-ACF4-4661-9947-49679DBA25F8}" srcOrd="3" destOrd="0" presId="urn:microsoft.com/office/officeart/2018/2/layout/IconVerticalSolidList"/>
    <dgm:cxn modelId="{A335E28E-73F0-48A2-8C21-9CAA40CCE060}" type="presParOf" srcId="{7B2E4367-8E6B-4130-BB32-5EDE91101F3D}" destId="{4F3DB58E-254C-4243-ADE3-8A01D34C3C54}" srcOrd="4" destOrd="0" presId="urn:microsoft.com/office/officeart/2018/2/layout/IconVerticalSolidList"/>
    <dgm:cxn modelId="{376E9C83-1BB9-4ACC-9913-84DA2072C6D1}" type="presParOf" srcId="{4F3DB58E-254C-4243-ADE3-8A01D34C3C54}" destId="{DB92659A-3FA7-45F1-8F7B-CF868E04183D}" srcOrd="0" destOrd="0" presId="urn:microsoft.com/office/officeart/2018/2/layout/IconVerticalSolidList"/>
    <dgm:cxn modelId="{64A982BF-62C0-4150-8E9A-9EA3EC694CCE}" type="presParOf" srcId="{4F3DB58E-254C-4243-ADE3-8A01D34C3C54}" destId="{A78A14A2-5EFF-41E4-BCF6-BB2C5F7F0242}" srcOrd="1" destOrd="0" presId="urn:microsoft.com/office/officeart/2018/2/layout/IconVerticalSolidList"/>
    <dgm:cxn modelId="{25381BE5-3986-45A4-B44B-869BE05BBF80}" type="presParOf" srcId="{4F3DB58E-254C-4243-ADE3-8A01D34C3C54}" destId="{6D28C011-9905-4D62-BD7E-AAE793353062}" srcOrd="2" destOrd="0" presId="urn:microsoft.com/office/officeart/2018/2/layout/IconVerticalSolidList"/>
    <dgm:cxn modelId="{A39FFF12-5F76-4C20-AA0D-28932031F68B}" type="presParOf" srcId="{4F3DB58E-254C-4243-ADE3-8A01D34C3C54}" destId="{AFC0C39B-BBD1-42D0-A5B0-1B637700FFB3}" srcOrd="3" destOrd="0" presId="urn:microsoft.com/office/officeart/2018/2/layout/IconVerticalSolidList"/>
    <dgm:cxn modelId="{68EF1E95-BA30-4850-AA6A-1F102C14E264}" type="presParOf" srcId="{7B2E4367-8E6B-4130-BB32-5EDE91101F3D}" destId="{A038DD1C-A10A-4173-908B-18DF1C1E212D}" srcOrd="5" destOrd="0" presId="urn:microsoft.com/office/officeart/2018/2/layout/IconVerticalSolidList"/>
    <dgm:cxn modelId="{654E7760-66D3-4E78-A222-F67D29DC4E92}" type="presParOf" srcId="{7B2E4367-8E6B-4130-BB32-5EDE91101F3D}" destId="{978F34D9-EFAB-4D4D-B369-207E861FEC76}" srcOrd="6" destOrd="0" presId="urn:microsoft.com/office/officeart/2018/2/layout/IconVerticalSolidList"/>
    <dgm:cxn modelId="{6049DB56-7D04-465C-9CEF-1DBFFB8ABFF1}" type="presParOf" srcId="{978F34D9-EFAB-4D4D-B369-207E861FEC76}" destId="{FB470E51-9971-4B03-90C8-94435823EF74}" srcOrd="0" destOrd="0" presId="urn:microsoft.com/office/officeart/2018/2/layout/IconVerticalSolidList"/>
    <dgm:cxn modelId="{90132053-EEFF-4A62-ABAC-7F91BB6D275E}" type="presParOf" srcId="{978F34D9-EFAB-4D4D-B369-207E861FEC76}" destId="{092ADEF4-76B6-4424-9901-49C575085B05}" srcOrd="1" destOrd="0" presId="urn:microsoft.com/office/officeart/2018/2/layout/IconVerticalSolidList"/>
    <dgm:cxn modelId="{0A8FF3C9-5647-407A-B180-7224C4934ED7}" type="presParOf" srcId="{978F34D9-EFAB-4D4D-B369-207E861FEC76}" destId="{02F7A12D-923F-48D4-A57A-EFC3D0062C59}" srcOrd="2" destOrd="0" presId="urn:microsoft.com/office/officeart/2018/2/layout/IconVerticalSolidList"/>
    <dgm:cxn modelId="{654B1A97-18CA-4D35-A07D-3EA995518FDE}" type="presParOf" srcId="{978F34D9-EFAB-4D4D-B369-207E861FEC76}" destId="{61024244-BFB6-417B-A04C-1E84401D704C}" srcOrd="3" destOrd="0" presId="urn:microsoft.com/office/officeart/2018/2/layout/IconVerticalSolidList"/>
    <dgm:cxn modelId="{6971CA01-E56A-42C1-BB9F-1FFF86DE8C60}" type="presParOf" srcId="{7B2E4367-8E6B-4130-BB32-5EDE91101F3D}" destId="{01574DDD-9C27-4747-98EE-C982464739B2}" srcOrd="7" destOrd="0" presId="urn:microsoft.com/office/officeart/2018/2/layout/IconVerticalSolidList"/>
    <dgm:cxn modelId="{0BEE5C0E-0917-43A7-AC27-FC23017289B9}" type="presParOf" srcId="{7B2E4367-8E6B-4130-BB32-5EDE91101F3D}" destId="{BC0AD4E3-2714-4DCC-B6E0-FF97C9F02C27}" srcOrd="8" destOrd="0" presId="urn:microsoft.com/office/officeart/2018/2/layout/IconVerticalSolidList"/>
    <dgm:cxn modelId="{DBE5B24E-BCE8-4888-AE77-5433E44B40A9}" type="presParOf" srcId="{BC0AD4E3-2714-4DCC-B6E0-FF97C9F02C27}" destId="{2ED25C8E-4908-469C-B75D-DC0842EA1218}" srcOrd="0" destOrd="0" presId="urn:microsoft.com/office/officeart/2018/2/layout/IconVerticalSolidList"/>
    <dgm:cxn modelId="{4E19D945-DB5D-4817-B634-1552191F8E13}" type="presParOf" srcId="{BC0AD4E3-2714-4DCC-B6E0-FF97C9F02C27}" destId="{4D7E2AF3-920E-467D-A3F4-C039B3FFD0A0}" srcOrd="1" destOrd="0" presId="urn:microsoft.com/office/officeart/2018/2/layout/IconVerticalSolidList"/>
    <dgm:cxn modelId="{90641135-7BB8-45EE-A8C8-0BB0E093C96A}" type="presParOf" srcId="{BC0AD4E3-2714-4DCC-B6E0-FF97C9F02C27}" destId="{F7D1975E-13B2-40D0-89E0-CF1AC2AE2A7D}" srcOrd="2" destOrd="0" presId="urn:microsoft.com/office/officeart/2018/2/layout/IconVerticalSolidList"/>
    <dgm:cxn modelId="{CDEC292F-B1D4-460C-9A97-9E8DD2F27DD9}" type="presParOf" srcId="{BC0AD4E3-2714-4DCC-B6E0-FF97C9F02C27}" destId="{5F0E42BC-8491-4E16-900E-EC5986C9D55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612BB3-9693-4168-A365-93D646FF541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B54AAEC-B1E7-4FA1-9A60-FF2AAC9E0F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Dataset Source : </a:t>
          </a:r>
          <a:r>
            <a:rPr lang="en-US"/>
            <a:t>NASA Exoplanet Archive / </a:t>
          </a:r>
          <a:r>
            <a:rPr lang="en-IN">
              <a:hlinkClick xmlns:r="http://schemas.openxmlformats.org/officeDocument/2006/relationships" r:id="rId1"/>
            </a:rPr>
            <a:t>TESS Project Candidates Table</a:t>
          </a:r>
          <a:endParaRPr lang="en-US"/>
        </a:p>
      </dgm:t>
    </dgm:pt>
    <dgm:pt modelId="{4BFD18FE-4A70-4BB8-A23B-D397D5B715F1}" type="parTrans" cxnId="{14999FC2-CC21-4F50-8ADA-AD23F0C71AB3}">
      <dgm:prSet/>
      <dgm:spPr/>
      <dgm:t>
        <a:bodyPr/>
        <a:lstStyle/>
        <a:p>
          <a:endParaRPr lang="en-US"/>
        </a:p>
      </dgm:t>
    </dgm:pt>
    <dgm:pt modelId="{AD593499-4958-4176-92A3-6E90196B725C}" type="sibTrans" cxnId="{14999FC2-CC21-4F50-8ADA-AD23F0C71AB3}">
      <dgm:prSet/>
      <dgm:spPr/>
      <dgm:t>
        <a:bodyPr/>
        <a:lstStyle/>
        <a:p>
          <a:endParaRPr lang="en-US"/>
        </a:p>
      </dgm:t>
    </dgm:pt>
    <dgm:pt modelId="{BD91C4A0-D4F4-4D52-A47E-C8F83CAF790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Target : </a:t>
          </a:r>
          <a:r>
            <a:rPr lang="en-IN"/>
            <a:t>“ </a:t>
          </a:r>
          <a:r>
            <a:rPr lang="en-IN" u="sng"/>
            <a:t>tfopwg_disp </a:t>
          </a:r>
          <a:r>
            <a:rPr lang="en-IN"/>
            <a:t>” </a:t>
          </a:r>
          <a:r>
            <a:rPr lang="en-IN" b="1"/>
            <a:t>,</a:t>
          </a:r>
          <a:r>
            <a:rPr lang="en-IN"/>
            <a:t>  represents the TFOPWG (TESS Follow-up Observing Program Working Group) disposition of each objects.</a:t>
          </a:r>
          <a:endParaRPr lang="en-US"/>
        </a:p>
      </dgm:t>
    </dgm:pt>
    <dgm:pt modelId="{7E7F2486-49CE-4A56-9DD4-513F6EAEF55A}" type="parTrans" cxnId="{427288E6-631C-432A-8831-F59714AF53F6}">
      <dgm:prSet/>
      <dgm:spPr/>
      <dgm:t>
        <a:bodyPr/>
        <a:lstStyle/>
        <a:p>
          <a:endParaRPr lang="en-US"/>
        </a:p>
      </dgm:t>
    </dgm:pt>
    <dgm:pt modelId="{F6A824C4-E1E3-466D-A248-8755BB75414F}" type="sibTrans" cxnId="{427288E6-631C-432A-8831-F59714AF53F6}">
      <dgm:prSet/>
      <dgm:spPr/>
      <dgm:t>
        <a:bodyPr/>
        <a:lstStyle/>
        <a:p>
          <a:endParaRPr lang="en-US"/>
        </a:p>
      </dgm:t>
    </dgm:pt>
    <dgm:pt modelId="{FA407047-DB8D-43CD-8196-4253BF30023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Features : </a:t>
          </a:r>
          <a:r>
            <a:rPr lang="en-IN"/>
            <a:t>They represent sky position, stellar motion/properties, and transit/planet properties, giving the models both stellar and planetary information.</a:t>
          </a:r>
          <a:endParaRPr lang="en-US"/>
        </a:p>
      </dgm:t>
    </dgm:pt>
    <dgm:pt modelId="{2DFD265E-8818-4D4C-A1F8-0777BE65855A}" type="parTrans" cxnId="{61FE6966-6F50-4864-BF02-447549611F28}">
      <dgm:prSet/>
      <dgm:spPr/>
      <dgm:t>
        <a:bodyPr/>
        <a:lstStyle/>
        <a:p>
          <a:endParaRPr lang="en-US"/>
        </a:p>
      </dgm:t>
    </dgm:pt>
    <dgm:pt modelId="{D11B62C4-3D19-4E39-9D9C-31EE4C9B55C2}" type="sibTrans" cxnId="{61FE6966-6F50-4864-BF02-447549611F28}">
      <dgm:prSet/>
      <dgm:spPr/>
      <dgm:t>
        <a:bodyPr/>
        <a:lstStyle/>
        <a:p>
          <a:endParaRPr lang="en-US"/>
        </a:p>
      </dgm:t>
    </dgm:pt>
    <dgm:pt modelId="{5B4255B1-EAF8-409C-AC66-B9AA0A1381C5}" type="pres">
      <dgm:prSet presAssocID="{7A612BB3-9693-4168-A365-93D646FF541B}" presName="vert0" presStyleCnt="0">
        <dgm:presLayoutVars>
          <dgm:dir/>
          <dgm:animOne val="branch"/>
          <dgm:animLvl val="lvl"/>
        </dgm:presLayoutVars>
      </dgm:prSet>
      <dgm:spPr/>
    </dgm:pt>
    <dgm:pt modelId="{4DCD381E-2C57-400A-AE96-61AC9B7009DE}" type="pres">
      <dgm:prSet presAssocID="{8B54AAEC-B1E7-4FA1-9A60-FF2AAC9E0FE9}" presName="thickLine" presStyleLbl="alignNode1" presStyleIdx="0" presStyleCnt="3"/>
      <dgm:spPr/>
    </dgm:pt>
    <dgm:pt modelId="{B2CBCD5E-0022-474B-A898-1D58C8487B53}" type="pres">
      <dgm:prSet presAssocID="{8B54AAEC-B1E7-4FA1-9A60-FF2AAC9E0FE9}" presName="horz1" presStyleCnt="0"/>
      <dgm:spPr/>
    </dgm:pt>
    <dgm:pt modelId="{953568A8-412C-4434-BC81-0147D79F08C4}" type="pres">
      <dgm:prSet presAssocID="{8B54AAEC-B1E7-4FA1-9A60-FF2AAC9E0FE9}" presName="tx1" presStyleLbl="revTx" presStyleIdx="0" presStyleCnt="3"/>
      <dgm:spPr/>
    </dgm:pt>
    <dgm:pt modelId="{140715B6-5B96-4CE4-A8FF-E32F5D4D04B4}" type="pres">
      <dgm:prSet presAssocID="{8B54AAEC-B1E7-4FA1-9A60-FF2AAC9E0FE9}" presName="vert1" presStyleCnt="0"/>
      <dgm:spPr/>
    </dgm:pt>
    <dgm:pt modelId="{BA761A4D-B147-433B-B0A8-DC4BCF8798DB}" type="pres">
      <dgm:prSet presAssocID="{BD91C4A0-D4F4-4D52-A47E-C8F83CAF790A}" presName="thickLine" presStyleLbl="alignNode1" presStyleIdx="1" presStyleCnt="3"/>
      <dgm:spPr/>
    </dgm:pt>
    <dgm:pt modelId="{5369258E-01BE-4A15-BB96-7E4E6DC23AF5}" type="pres">
      <dgm:prSet presAssocID="{BD91C4A0-D4F4-4D52-A47E-C8F83CAF790A}" presName="horz1" presStyleCnt="0"/>
      <dgm:spPr/>
    </dgm:pt>
    <dgm:pt modelId="{5AE11137-EF39-432A-950A-E68E3D3223B6}" type="pres">
      <dgm:prSet presAssocID="{BD91C4A0-D4F4-4D52-A47E-C8F83CAF790A}" presName="tx1" presStyleLbl="revTx" presStyleIdx="1" presStyleCnt="3"/>
      <dgm:spPr/>
    </dgm:pt>
    <dgm:pt modelId="{E4492F8C-C024-48AE-AC02-78A2F20D280F}" type="pres">
      <dgm:prSet presAssocID="{BD91C4A0-D4F4-4D52-A47E-C8F83CAF790A}" presName="vert1" presStyleCnt="0"/>
      <dgm:spPr/>
    </dgm:pt>
    <dgm:pt modelId="{2EB1AE21-9E0C-45F7-9A61-BD3A2A33AD26}" type="pres">
      <dgm:prSet presAssocID="{FA407047-DB8D-43CD-8196-4253BF300235}" presName="thickLine" presStyleLbl="alignNode1" presStyleIdx="2" presStyleCnt="3"/>
      <dgm:spPr/>
    </dgm:pt>
    <dgm:pt modelId="{6FC41BC8-C1CF-4ECE-A975-23388BAA473A}" type="pres">
      <dgm:prSet presAssocID="{FA407047-DB8D-43CD-8196-4253BF300235}" presName="horz1" presStyleCnt="0"/>
      <dgm:spPr/>
    </dgm:pt>
    <dgm:pt modelId="{A391ECEF-8BB9-4507-B4E2-E8A768DEE449}" type="pres">
      <dgm:prSet presAssocID="{FA407047-DB8D-43CD-8196-4253BF300235}" presName="tx1" presStyleLbl="revTx" presStyleIdx="2" presStyleCnt="3"/>
      <dgm:spPr/>
    </dgm:pt>
    <dgm:pt modelId="{2617203F-CAFB-49AC-A07F-89E5F0A40788}" type="pres">
      <dgm:prSet presAssocID="{FA407047-DB8D-43CD-8196-4253BF300235}" presName="vert1" presStyleCnt="0"/>
      <dgm:spPr/>
    </dgm:pt>
  </dgm:ptLst>
  <dgm:cxnLst>
    <dgm:cxn modelId="{4FD1B500-944F-4B5F-8A75-E94D269E0E34}" type="presOf" srcId="{7A612BB3-9693-4168-A365-93D646FF541B}" destId="{5B4255B1-EAF8-409C-AC66-B9AA0A1381C5}" srcOrd="0" destOrd="0" presId="urn:microsoft.com/office/officeart/2008/layout/LinedList"/>
    <dgm:cxn modelId="{EC22D214-3995-4DD2-815E-B06554E1203D}" type="presOf" srcId="{BD91C4A0-D4F4-4D52-A47E-C8F83CAF790A}" destId="{5AE11137-EF39-432A-950A-E68E3D3223B6}" srcOrd="0" destOrd="0" presId="urn:microsoft.com/office/officeart/2008/layout/LinedList"/>
    <dgm:cxn modelId="{61FE6966-6F50-4864-BF02-447549611F28}" srcId="{7A612BB3-9693-4168-A365-93D646FF541B}" destId="{FA407047-DB8D-43CD-8196-4253BF300235}" srcOrd="2" destOrd="0" parTransId="{2DFD265E-8818-4D4C-A1F8-0777BE65855A}" sibTransId="{D11B62C4-3D19-4E39-9D9C-31EE4C9B55C2}"/>
    <dgm:cxn modelId="{36B4B753-1286-45F4-9055-E779C8340DF1}" type="presOf" srcId="{FA407047-DB8D-43CD-8196-4253BF300235}" destId="{A391ECEF-8BB9-4507-B4E2-E8A768DEE449}" srcOrd="0" destOrd="0" presId="urn:microsoft.com/office/officeart/2008/layout/LinedList"/>
    <dgm:cxn modelId="{D1DE37A9-EF14-43F8-ADF8-C78C5FE6B036}" type="presOf" srcId="{8B54AAEC-B1E7-4FA1-9A60-FF2AAC9E0FE9}" destId="{953568A8-412C-4434-BC81-0147D79F08C4}" srcOrd="0" destOrd="0" presId="urn:microsoft.com/office/officeart/2008/layout/LinedList"/>
    <dgm:cxn modelId="{14999FC2-CC21-4F50-8ADA-AD23F0C71AB3}" srcId="{7A612BB3-9693-4168-A365-93D646FF541B}" destId="{8B54AAEC-B1E7-4FA1-9A60-FF2AAC9E0FE9}" srcOrd="0" destOrd="0" parTransId="{4BFD18FE-4A70-4BB8-A23B-D397D5B715F1}" sibTransId="{AD593499-4958-4176-92A3-6E90196B725C}"/>
    <dgm:cxn modelId="{427288E6-631C-432A-8831-F59714AF53F6}" srcId="{7A612BB3-9693-4168-A365-93D646FF541B}" destId="{BD91C4A0-D4F4-4D52-A47E-C8F83CAF790A}" srcOrd="1" destOrd="0" parTransId="{7E7F2486-49CE-4A56-9DD4-513F6EAEF55A}" sibTransId="{F6A824C4-E1E3-466D-A248-8755BB75414F}"/>
    <dgm:cxn modelId="{76FACCD4-D925-4FA4-8B0A-AEEF0B51905B}" type="presParOf" srcId="{5B4255B1-EAF8-409C-AC66-B9AA0A1381C5}" destId="{4DCD381E-2C57-400A-AE96-61AC9B7009DE}" srcOrd="0" destOrd="0" presId="urn:microsoft.com/office/officeart/2008/layout/LinedList"/>
    <dgm:cxn modelId="{27258709-EB1B-44CC-B7AB-618BF785DB58}" type="presParOf" srcId="{5B4255B1-EAF8-409C-AC66-B9AA0A1381C5}" destId="{B2CBCD5E-0022-474B-A898-1D58C8487B53}" srcOrd="1" destOrd="0" presId="urn:microsoft.com/office/officeart/2008/layout/LinedList"/>
    <dgm:cxn modelId="{76C41BA7-B5D5-4A5A-8D60-B9DA85577615}" type="presParOf" srcId="{B2CBCD5E-0022-474B-A898-1D58C8487B53}" destId="{953568A8-412C-4434-BC81-0147D79F08C4}" srcOrd="0" destOrd="0" presId="urn:microsoft.com/office/officeart/2008/layout/LinedList"/>
    <dgm:cxn modelId="{8FDBC270-2152-4845-97EA-55AEA787EBF1}" type="presParOf" srcId="{B2CBCD5E-0022-474B-A898-1D58C8487B53}" destId="{140715B6-5B96-4CE4-A8FF-E32F5D4D04B4}" srcOrd="1" destOrd="0" presId="urn:microsoft.com/office/officeart/2008/layout/LinedList"/>
    <dgm:cxn modelId="{F493B0CE-6AD7-4C1B-927D-3FB1CC6D49F7}" type="presParOf" srcId="{5B4255B1-EAF8-409C-AC66-B9AA0A1381C5}" destId="{BA761A4D-B147-433B-B0A8-DC4BCF8798DB}" srcOrd="2" destOrd="0" presId="urn:microsoft.com/office/officeart/2008/layout/LinedList"/>
    <dgm:cxn modelId="{4383ADB0-82FF-49C4-AD89-BC766AE22847}" type="presParOf" srcId="{5B4255B1-EAF8-409C-AC66-B9AA0A1381C5}" destId="{5369258E-01BE-4A15-BB96-7E4E6DC23AF5}" srcOrd="3" destOrd="0" presId="urn:microsoft.com/office/officeart/2008/layout/LinedList"/>
    <dgm:cxn modelId="{B5E8CA70-EA2F-40ED-8574-74F7A31AAC22}" type="presParOf" srcId="{5369258E-01BE-4A15-BB96-7E4E6DC23AF5}" destId="{5AE11137-EF39-432A-950A-E68E3D3223B6}" srcOrd="0" destOrd="0" presId="urn:microsoft.com/office/officeart/2008/layout/LinedList"/>
    <dgm:cxn modelId="{61F32043-5BA9-44AF-847A-4DE9FBE725C5}" type="presParOf" srcId="{5369258E-01BE-4A15-BB96-7E4E6DC23AF5}" destId="{E4492F8C-C024-48AE-AC02-78A2F20D280F}" srcOrd="1" destOrd="0" presId="urn:microsoft.com/office/officeart/2008/layout/LinedList"/>
    <dgm:cxn modelId="{CEC7F209-5A75-477D-811A-B6DEF208F387}" type="presParOf" srcId="{5B4255B1-EAF8-409C-AC66-B9AA0A1381C5}" destId="{2EB1AE21-9E0C-45F7-9A61-BD3A2A33AD26}" srcOrd="4" destOrd="0" presId="urn:microsoft.com/office/officeart/2008/layout/LinedList"/>
    <dgm:cxn modelId="{E2B67168-5ACE-4CB9-85B2-211CB5A2C640}" type="presParOf" srcId="{5B4255B1-EAF8-409C-AC66-B9AA0A1381C5}" destId="{6FC41BC8-C1CF-4ECE-A975-23388BAA473A}" srcOrd="5" destOrd="0" presId="urn:microsoft.com/office/officeart/2008/layout/LinedList"/>
    <dgm:cxn modelId="{686972ED-8A2D-4590-9B45-B4F061A4544F}" type="presParOf" srcId="{6FC41BC8-C1CF-4ECE-A975-23388BAA473A}" destId="{A391ECEF-8BB9-4507-B4E2-E8A768DEE449}" srcOrd="0" destOrd="0" presId="urn:microsoft.com/office/officeart/2008/layout/LinedList"/>
    <dgm:cxn modelId="{B58CC225-E7F1-447C-9B81-9BB822CF5E7F}" type="presParOf" srcId="{6FC41BC8-C1CF-4ECE-A975-23388BAA473A}" destId="{2617203F-CAFB-49AC-A07F-89E5F0A4078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6C2092-988C-4131-B594-6C588FBED853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9BADE4F2-A4F8-4A99-8A66-5ED80AB7D623}">
      <dgm:prSet/>
      <dgm:spPr/>
      <dgm:t>
        <a:bodyPr/>
        <a:lstStyle/>
        <a:p>
          <a:r>
            <a:rPr lang="en-IN" dirty="0"/>
            <a:t>Stellar Luminosity </a:t>
          </a:r>
        </a:p>
        <a:p>
          <a:r>
            <a:rPr lang="en-IN" dirty="0"/>
            <a:t> Derived from stellar radius/temperature-related information to represent stellar energy output.</a:t>
          </a:r>
        </a:p>
      </dgm:t>
    </dgm:pt>
    <dgm:pt modelId="{B5794638-CF50-4102-805C-983ABF0CBFA6}" type="parTrans" cxnId="{218B97C2-404E-4530-8C12-A7BDA0118E75}">
      <dgm:prSet/>
      <dgm:spPr/>
      <dgm:t>
        <a:bodyPr/>
        <a:lstStyle/>
        <a:p>
          <a:endParaRPr lang="en-IN"/>
        </a:p>
      </dgm:t>
    </dgm:pt>
    <dgm:pt modelId="{0F186093-5969-42D3-BC5C-97BA76B0D8DC}" type="sibTrans" cxnId="{218B97C2-404E-4530-8C12-A7BDA0118E75}">
      <dgm:prSet/>
      <dgm:spPr/>
      <dgm:t>
        <a:bodyPr/>
        <a:lstStyle/>
        <a:p>
          <a:endParaRPr lang="en-IN"/>
        </a:p>
      </dgm:t>
    </dgm:pt>
    <dgm:pt modelId="{14876E01-984E-4086-ACA3-789245AC755D}">
      <dgm:prSet/>
      <dgm:spPr/>
      <dgm:t>
        <a:bodyPr/>
        <a:lstStyle/>
        <a:p>
          <a:r>
            <a:rPr lang="en-IN" dirty="0"/>
            <a:t>Stellar Surface Area </a:t>
          </a:r>
        </a:p>
        <a:p>
          <a:r>
            <a:rPr lang="en-IN" dirty="0"/>
            <a:t>Derived from stellar radius to provide an additional physical property. </a:t>
          </a:r>
        </a:p>
      </dgm:t>
    </dgm:pt>
    <dgm:pt modelId="{1B623CD1-A89C-4416-ACE1-0B2E6E3472D5}" type="parTrans" cxnId="{9D3F8D54-B279-4EC4-800C-8A76490EB381}">
      <dgm:prSet/>
      <dgm:spPr/>
      <dgm:t>
        <a:bodyPr/>
        <a:lstStyle/>
        <a:p>
          <a:endParaRPr lang="en-IN"/>
        </a:p>
      </dgm:t>
    </dgm:pt>
    <dgm:pt modelId="{95AA9396-936E-4CE6-B421-C664EDF979F8}" type="sibTrans" cxnId="{9D3F8D54-B279-4EC4-800C-8A76490EB381}">
      <dgm:prSet/>
      <dgm:spPr/>
      <dgm:t>
        <a:bodyPr/>
        <a:lstStyle/>
        <a:p>
          <a:endParaRPr lang="en-IN"/>
        </a:p>
      </dgm:t>
    </dgm:pt>
    <dgm:pt modelId="{A98A249D-845E-4DA5-9B5A-0E4264034066}">
      <dgm:prSet/>
      <dgm:spPr/>
      <dgm:t>
        <a:bodyPr/>
        <a:lstStyle/>
        <a:p>
          <a:r>
            <a:rPr lang="en-IN" dirty="0"/>
            <a:t>Transit Signal </a:t>
          </a:r>
        </a:p>
        <a:p>
          <a:r>
            <a:rPr lang="en-IN" dirty="0"/>
            <a:t>Combines transit-related measurements to represent the strength of the observed transit signal.</a:t>
          </a:r>
        </a:p>
      </dgm:t>
    </dgm:pt>
    <dgm:pt modelId="{15554335-3276-4D0E-AF93-635E61D96D74}" type="parTrans" cxnId="{1F009ADB-2F67-4363-9831-A2AD78C8FFCA}">
      <dgm:prSet/>
      <dgm:spPr/>
      <dgm:t>
        <a:bodyPr/>
        <a:lstStyle/>
        <a:p>
          <a:endParaRPr lang="en-IN"/>
        </a:p>
      </dgm:t>
    </dgm:pt>
    <dgm:pt modelId="{CA16F27D-F77A-4F9C-BB89-5EE8CE74F62C}" type="sibTrans" cxnId="{1F009ADB-2F67-4363-9831-A2AD78C8FFCA}">
      <dgm:prSet/>
      <dgm:spPr/>
      <dgm:t>
        <a:bodyPr/>
        <a:lstStyle/>
        <a:p>
          <a:endParaRPr lang="en-IN"/>
        </a:p>
      </dgm:t>
    </dgm:pt>
    <dgm:pt modelId="{C065D7E8-71AE-40C5-95DB-5C49D8A122B3}" type="pres">
      <dgm:prSet presAssocID="{E76C2092-988C-4131-B594-6C588FBED853}" presName="linear" presStyleCnt="0">
        <dgm:presLayoutVars>
          <dgm:animLvl val="lvl"/>
          <dgm:resizeHandles val="exact"/>
        </dgm:presLayoutVars>
      </dgm:prSet>
      <dgm:spPr/>
    </dgm:pt>
    <dgm:pt modelId="{1E6DB6E7-4E57-4E8C-9515-99631E4E7044}" type="pres">
      <dgm:prSet presAssocID="{9BADE4F2-A4F8-4A99-8A66-5ED80AB7D62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11B7725-03D8-4310-8083-D0DD3B3E6C2E}" type="pres">
      <dgm:prSet presAssocID="{0F186093-5969-42D3-BC5C-97BA76B0D8DC}" presName="spacer" presStyleCnt="0"/>
      <dgm:spPr/>
    </dgm:pt>
    <dgm:pt modelId="{E17DAD98-4A28-461A-99B4-73F07025765E}" type="pres">
      <dgm:prSet presAssocID="{14876E01-984E-4086-ACA3-789245AC755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847BF46-EFBC-48BD-BEC0-BF799F10952E}" type="pres">
      <dgm:prSet presAssocID="{95AA9396-936E-4CE6-B421-C664EDF979F8}" presName="spacer" presStyleCnt="0"/>
      <dgm:spPr/>
    </dgm:pt>
    <dgm:pt modelId="{962B2926-6B15-47E0-931C-7B1B39EB4A1A}" type="pres">
      <dgm:prSet presAssocID="{A98A249D-845E-4DA5-9B5A-0E426403406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D3F8D54-B279-4EC4-800C-8A76490EB381}" srcId="{E76C2092-988C-4131-B594-6C588FBED853}" destId="{14876E01-984E-4086-ACA3-789245AC755D}" srcOrd="1" destOrd="0" parTransId="{1B623CD1-A89C-4416-ACE1-0B2E6E3472D5}" sibTransId="{95AA9396-936E-4CE6-B421-C664EDF979F8}"/>
    <dgm:cxn modelId="{4C40BF7C-3781-4406-B74B-AC13B47B5B65}" type="presOf" srcId="{A98A249D-845E-4DA5-9B5A-0E4264034066}" destId="{962B2926-6B15-47E0-931C-7B1B39EB4A1A}" srcOrd="0" destOrd="0" presId="urn:microsoft.com/office/officeart/2005/8/layout/vList2"/>
    <dgm:cxn modelId="{358C1F98-99AA-420A-BF7F-612557A2A6F9}" type="presOf" srcId="{9BADE4F2-A4F8-4A99-8A66-5ED80AB7D623}" destId="{1E6DB6E7-4E57-4E8C-9515-99631E4E7044}" srcOrd="0" destOrd="0" presId="urn:microsoft.com/office/officeart/2005/8/layout/vList2"/>
    <dgm:cxn modelId="{DD12BAA4-9C77-4E30-9E66-ECF562B6A4A0}" type="presOf" srcId="{E76C2092-988C-4131-B594-6C588FBED853}" destId="{C065D7E8-71AE-40C5-95DB-5C49D8A122B3}" srcOrd="0" destOrd="0" presId="urn:microsoft.com/office/officeart/2005/8/layout/vList2"/>
    <dgm:cxn modelId="{218B97C2-404E-4530-8C12-A7BDA0118E75}" srcId="{E76C2092-988C-4131-B594-6C588FBED853}" destId="{9BADE4F2-A4F8-4A99-8A66-5ED80AB7D623}" srcOrd="0" destOrd="0" parTransId="{B5794638-CF50-4102-805C-983ABF0CBFA6}" sibTransId="{0F186093-5969-42D3-BC5C-97BA76B0D8DC}"/>
    <dgm:cxn modelId="{1F009ADB-2F67-4363-9831-A2AD78C8FFCA}" srcId="{E76C2092-988C-4131-B594-6C588FBED853}" destId="{A98A249D-845E-4DA5-9B5A-0E4264034066}" srcOrd="2" destOrd="0" parTransId="{15554335-3276-4D0E-AF93-635E61D96D74}" sibTransId="{CA16F27D-F77A-4F9C-BB89-5EE8CE74F62C}"/>
    <dgm:cxn modelId="{2F238CDC-40DC-4CF4-8E66-6CAAB8DDB18A}" type="presOf" srcId="{14876E01-984E-4086-ACA3-789245AC755D}" destId="{E17DAD98-4A28-461A-99B4-73F07025765E}" srcOrd="0" destOrd="0" presId="urn:microsoft.com/office/officeart/2005/8/layout/vList2"/>
    <dgm:cxn modelId="{B6C59B0F-3DBA-4125-B2C7-503AAAD4E899}" type="presParOf" srcId="{C065D7E8-71AE-40C5-95DB-5C49D8A122B3}" destId="{1E6DB6E7-4E57-4E8C-9515-99631E4E7044}" srcOrd="0" destOrd="0" presId="urn:microsoft.com/office/officeart/2005/8/layout/vList2"/>
    <dgm:cxn modelId="{B000B87B-03A4-46C9-9CCC-89FD1F08742C}" type="presParOf" srcId="{C065D7E8-71AE-40C5-95DB-5C49D8A122B3}" destId="{A11B7725-03D8-4310-8083-D0DD3B3E6C2E}" srcOrd="1" destOrd="0" presId="urn:microsoft.com/office/officeart/2005/8/layout/vList2"/>
    <dgm:cxn modelId="{9776E777-C40C-4CA2-8E97-3B92A7727165}" type="presParOf" srcId="{C065D7E8-71AE-40C5-95DB-5C49D8A122B3}" destId="{E17DAD98-4A28-461A-99B4-73F07025765E}" srcOrd="2" destOrd="0" presId="urn:microsoft.com/office/officeart/2005/8/layout/vList2"/>
    <dgm:cxn modelId="{35EF3FFF-068F-4234-80A5-3D87A65E1682}" type="presParOf" srcId="{C065D7E8-71AE-40C5-95DB-5C49D8A122B3}" destId="{9847BF46-EFBC-48BD-BEC0-BF799F10952E}" srcOrd="3" destOrd="0" presId="urn:microsoft.com/office/officeart/2005/8/layout/vList2"/>
    <dgm:cxn modelId="{1330248F-8A1B-44CD-AD53-E9504E84898A}" type="presParOf" srcId="{C065D7E8-71AE-40C5-95DB-5C49D8A122B3}" destId="{962B2926-6B15-47E0-931C-7B1B39EB4A1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993B513-4404-459E-BCB0-449F714E6DB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0C4043F-C175-43A7-83E3-0099A53B9975}">
      <dgm:prSet phldrT="[Text]"/>
      <dgm:spPr/>
      <dgm:t>
        <a:bodyPr/>
        <a:lstStyle/>
        <a:p>
          <a:pPr>
            <a:buNone/>
          </a:pPr>
          <a:r>
            <a:rPr lang="en-IN" b="1" dirty="0"/>
            <a:t>User</a:t>
          </a:r>
          <a:r>
            <a:rPr lang="en-IN" dirty="0"/>
            <a:t> </a:t>
          </a:r>
        </a:p>
        <a:p>
          <a:pPr>
            <a:buNone/>
          </a:pPr>
          <a:r>
            <a:rPr lang="en-IN" b="0" dirty="0"/>
            <a:t>Enters 15 feature values</a:t>
          </a:r>
        </a:p>
      </dgm:t>
    </dgm:pt>
    <dgm:pt modelId="{A7A1B88F-7F6D-4193-8978-65FDCBC80453}" type="parTrans" cxnId="{41F9360B-5595-4CE7-BB65-2A2A57D2E4F2}">
      <dgm:prSet/>
      <dgm:spPr/>
      <dgm:t>
        <a:bodyPr/>
        <a:lstStyle/>
        <a:p>
          <a:endParaRPr lang="en-IN"/>
        </a:p>
      </dgm:t>
    </dgm:pt>
    <dgm:pt modelId="{E66E3559-8640-468F-A5F6-A0C581D7D684}" type="sibTrans" cxnId="{41F9360B-5595-4CE7-BB65-2A2A57D2E4F2}">
      <dgm:prSet/>
      <dgm:spPr/>
      <dgm:t>
        <a:bodyPr/>
        <a:lstStyle/>
        <a:p>
          <a:endParaRPr lang="en-IN"/>
        </a:p>
      </dgm:t>
    </dgm:pt>
    <dgm:pt modelId="{59566DFD-49A0-4E60-8D26-43D84EDBF4DC}">
      <dgm:prSet phldrT="[Text]"/>
      <dgm:spPr/>
      <dgm:t>
        <a:bodyPr/>
        <a:lstStyle/>
        <a:p>
          <a:pPr>
            <a:buNone/>
          </a:pPr>
          <a:r>
            <a:rPr lang="en-IN" b="1" dirty="0"/>
            <a:t>Flask App </a:t>
          </a:r>
          <a:r>
            <a:rPr lang="en-IN" b="0" dirty="0"/>
            <a:t>Receives and validates input</a:t>
          </a:r>
        </a:p>
      </dgm:t>
    </dgm:pt>
    <dgm:pt modelId="{6D64425B-9AC6-4D61-BF82-500511062CAD}" type="parTrans" cxnId="{E4D1C24D-F76C-483B-BBBD-BD828912F44E}">
      <dgm:prSet/>
      <dgm:spPr/>
      <dgm:t>
        <a:bodyPr/>
        <a:lstStyle/>
        <a:p>
          <a:endParaRPr lang="en-IN"/>
        </a:p>
      </dgm:t>
    </dgm:pt>
    <dgm:pt modelId="{571753F2-A077-49D9-B27C-813BA76308E6}" type="sibTrans" cxnId="{E4D1C24D-F76C-483B-BBBD-BD828912F44E}">
      <dgm:prSet/>
      <dgm:spPr/>
      <dgm:t>
        <a:bodyPr/>
        <a:lstStyle/>
        <a:p>
          <a:endParaRPr lang="en-IN"/>
        </a:p>
      </dgm:t>
    </dgm:pt>
    <dgm:pt modelId="{15D29DA5-5364-4D1B-970D-C39A287812F4}">
      <dgm:prSet phldrT="[Text]" custT="1"/>
      <dgm:spPr/>
      <dgm:t>
        <a:bodyPr/>
        <a:lstStyle/>
        <a:p>
          <a:pPr>
            <a:buNone/>
          </a:pPr>
          <a:r>
            <a:rPr lang="en-IN" sz="2000" b="1" dirty="0"/>
            <a:t>Predictor</a:t>
          </a:r>
        </a:p>
        <a:p>
          <a:pPr>
            <a:buNone/>
          </a:pPr>
          <a:r>
            <a:rPr lang="en-IN" sz="1800" dirty="0"/>
            <a:t>Loads saved Random Forest models</a:t>
          </a:r>
        </a:p>
      </dgm:t>
    </dgm:pt>
    <dgm:pt modelId="{3E69B478-C128-4DC0-83FF-56DAAFB656DF}" type="parTrans" cxnId="{F482BD92-7E3F-44A2-9CB5-CB360CEA4D28}">
      <dgm:prSet/>
      <dgm:spPr/>
      <dgm:t>
        <a:bodyPr/>
        <a:lstStyle/>
        <a:p>
          <a:endParaRPr lang="en-IN"/>
        </a:p>
      </dgm:t>
    </dgm:pt>
    <dgm:pt modelId="{0F5A5414-CB95-4C17-A001-7DB5349D2ADB}" type="sibTrans" cxnId="{F482BD92-7E3F-44A2-9CB5-CB360CEA4D28}">
      <dgm:prSet/>
      <dgm:spPr/>
      <dgm:t>
        <a:bodyPr/>
        <a:lstStyle/>
        <a:p>
          <a:endParaRPr lang="en-IN"/>
        </a:p>
      </dgm:t>
    </dgm:pt>
    <dgm:pt modelId="{F6B81AA2-1213-449C-829A-FC9FA1175567}">
      <dgm:prSet phldrT="[Text]" custT="1"/>
      <dgm:spPr/>
      <dgm:t>
        <a:bodyPr/>
        <a:lstStyle/>
        <a:p>
          <a:pPr>
            <a:buNone/>
          </a:pPr>
          <a:r>
            <a:rPr lang="en-IN" sz="2000" b="1" dirty="0"/>
            <a:t>Models</a:t>
          </a:r>
        </a:p>
        <a:p>
          <a:pPr>
            <a:buNone/>
          </a:pPr>
          <a:r>
            <a:rPr lang="en-IN" sz="1800" dirty="0"/>
            <a:t> Binary + multiclass prediction</a:t>
          </a:r>
        </a:p>
      </dgm:t>
    </dgm:pt>
    <dgm:pt modelId="{2CA9D5A5-7FF4-4DE1-B35F-5934BA70EC88}" type="parTrans" cxnId="{ED0A309C-2836-4D06-B328-C6058C77D5CD}">
      <dgm:prSet/>
      <dgm:spPr/>
      <dgm:t>
        <a:bodyPr/>
        <a:lstStyle/>
        <a:p>
          <a:endParaRPr lang="en-IN"/>
        </a:p>
      </dgm:t>
    </dgm:pt>
    <dgm:pt modelId="{45A3ED8B-3065-476E-B61E-10864AB3A6A8}" type="sibTrans" cxnId="{ED0A309C-2836-4D06-B328-C6058C77D5CD}">
      <dgm:prSet/>
      <dgm:spPr/>
      <dgm:t>
        <a:bodyPr/>
        <a:lstStyle/>
        <a:p>
          <a:endParaRPr lang="en-IN"/>
        </a:p>
      </dgm:t>
    </dgm:pt>
    <dgm:pt modelId="{047B74B5-D2E3-48DE-8465-C1E813076163}">
      <dgm:prSet custT="1"/>
      <dgm:spPr/>
      <dgm:t>
        <a:bodyPr/>
        <a:lstStyle/>
        <a:p>
          <a:r>
            <a:rPr lang="en-IN" sz="2000" b="1" dirty="0"/>
            <a:t>Result</a:t>
          </a:r>
        </a:p>
        <a:p>
          <a:r>
            <a:rPr lang="en-IN" sz="1800" dirty="0"/>
            <a:t>Prediction displayed in browser</a:t>
          </a:r>
        </a:p>
      </dgm:t>
    </dgm:pt>
    <dgm:pt modelId="{DBC0DF74-B1C0-4D6A-8FCE-B84FEDF3E079}" type="parTrans" cxnId="{CF2DA89B-6803-414B-A9E3-D1D94E0C7EC9}">
      <dgm:prSet/>
      <dgm:spPr/>
      <dgm:t>
        <a:bodyPr/>
        <a:lstStyle/>
        <a:p>
          <a:endParaRPr lang="en-IN"/>
        </a:p>
      </dgm:t>
    </dgm:pt>
    <dgm:pt modelId="{84C58317-0E8A-4944-929E-48EE0FEE9D5E}" type="sibTrans" cxnId="{CF2DA89B-6803-414B-A9E3-D1D94E0C7EC9}">
      <dgm:prSet/>
      <dgm:spPr/>
      <dgm:t>
        <a:bodyPr/>
        <a:lstStyle/>
        <a:p>
          <a:endParaRPr lang="en-IN"/>
        </a:p>
      </dgm:t>
    </dgm:pt>
    <dgm:pt modelId="{9F6741F6-2B1D-4521-83ED-87BC02DF821A}" type="pres">
      <dgm:prSet presAssocID="{A993B513-4404-459E-BCB0-449F714E6DB8}" presName="diagram" presStyleCnt="0">
        <dgm:presLayoutVars>
          <dgm:dir/>
          <dgm:resizeHandles val="exact"/>
        </dgm:presLayoutVars>
      </dgm:prSet>
      <dgm:spPr/>
    </dgm:pt>
    <dgm:pt modelId="{515B63EA-993C-456D-8519-CDBC49142609}" type="pres">
      <dgm:prSet presAssocID="{00C4043F-C175-43A7-83E3-0099A53B9975}" presName="node" presStyleLbl="node1" presStyleIdx="0" presStyleCnt="5">
        <dgm:presLayoutVars>
          <dgm:bulletEnabled val="1"/>
        </dgm:presLayoutVars>
      </dgm:prSet>
      <dgm:spPr/>
    </dgm:pt>
    <dgm:pt modelId="{ACAA6115-8F8F-42F1-B362-19090CE9FC37}" type="pres">
      <dgm:prSet presAssocID="{E66E3559-8640-468F-A5F6-A0C581D7D684}" presName="sibTrans" presStyleCnt="0"/>
      <dgm:spPr/>
    </dgm:pt>
    <dgm:pt modelId="{87E4E3F1-AC5A-42F2-9422-4FB0C28938E7}" type="pres">
      <dgm:prSet presAssocID="{59566DFD-49A0-4E60-8D26-43D84EDBF4DC}" presName="node" presStyleLbl="node1" presStyleIdx="1" presStyleCnt="5">
        <dgm:presLayoutVars>
          <dgm:bulletEnabled val="1"/>
        </dgm:presLayoutVars>
      </dgm:prSet>
      <dgm:spPr/>
    </dgm:pt>
    <dgm:pt modelId="{D6ECCD59-A453-43D4-80C5-B674BDE0B6FF}" type="pres">
      <dgm:prSet presAssocID="{571753F2-A077-49D9-B27C-813BA76308E6}" presName="sibTrans" presStyleCnt="0"/>
      <dgm:spPr/>
    </dgm:pt>
    <dgm:pt modelId="{24FDF1C3-1CDD-44B9-A0F3-CAF9AACFD921}" type="pres">
      <dgm:prSet presAssocID="{15D29DA5-5364-4D1B-970D-C39A287812F4}" presName="node" presStyleLbl="node1" presStyleIdx="2" presStyleCnt="5">
        <dgm:presLayoutVars>
          <dgm:bulletEnabled val="1"/>
        </dgm:presLayoutVars>
      </dgm:prSet>
      <dgm:spPr/>
    </dgm:pt>
    <dgm:pt modelId="{7B2C6182-12C3-4908-8B5B-861AA2AA1E16}" type="pres">
      <dgm:prSet presAssocID="{0F5A5414-CB95-4C17-A001-7DB5349D2ADB}" presName="sibTrans" presStyleCnt="0"/>
      <dgm:spPr/>
    </dgm:pt>
    <dgm:pt modelId="{875457B6-E94A-4FF9-91F5-9DAA38C1D7C9}" type="pres">
      <dgm:prSet presAssocID="{F6B81AA2-1213-449C-829A-FC9FA1175567}" presName="node" presStyleLbl="node1" presStyleIdx="3" presStyleCnt="5">
        <dgm:presLayoutVars>
          <dgm:bulletEnabled val="1"/>
        </dgm:presLayoutVars>
      </dgm:prSet>
      <dgm:spPr/>
    </dgm:pt>
    <dgm:pt modelId="{E249209C-DEAF-47AD-89E3-9DC0D69855AD}" type="pres">
      <dgm:prSet presAssocID="{45A3ED8B-3065-476E-B61E-10864AB3A6A8}" presName="sibTrans" presStyleCnt="0"/>
      <dgm:spPr/>
    </dgm:pt>
    <dgm:pt modelId="{A9823F51-2D4F-44C7-913A-3220065DB236}" type="pres">
      <dgm:prSet presAssocID="{047B74B5-D2E3-48DE-8465-C1E813076163}" presName="node" presStyleLbl="node1" presStyleIdx="4" presStyleCnt="5">
        <dgm:presLayoutVars>
          <dgm:bulletEnabled val="1"/>
        </dgm:presLayoutVars>
      </dgm:prSet>
      <dgm:spPr/>
    </dgm:pt>
  </dgm:ptLst>
  <dgm:cxnLst>
    <dgm:cxn modelId="{41F9360B-5595-4CE7-BB65-2A2A57D2E4F2}" srcId="{A993B513-4404-459E-BCB0-449F714E6DB8}" destId="{00C4043F-C175-43A7-83E3-0099A53B9975}" srcOrd="0" destOrd="0" parTransId="{A7A1B88F-7F6D-4193-8978-65FDCBC80453}" sibTransId="{E66E3559-8640-468F-A5F6-A0C581D7D684}"/>
    <dgm:cxn modelId="{7E1DA40D-0179-409D-A703-9EE7A0531CD7}" type="presOf" srcId="{047B74B5-D2E3-48DE-8465-C1E813076163}" destId="{A9823F51-2D4F-44C7-913A-3220065DB236}" srcOrd="0" destOrd="0" presId="urn:microsoft.com/office/officeart/2005/8/layout/default"/>
    <dgm:cxn modelId="{F5F8D221-AFAB-45AF-9C7F-36DC89CFC195}" type="presOf" srcId="{A993B513-4404-459E-BCB0-449F714E6DB8}" destId="{9F6741F6-2B1D-4521-83ED-87BC02DF821A}" srcOrd="0" destOrd="0" presId="urn:microsoft.com/office/officeart/2005/8/layout/default"/>
    <dgm:cxn modelId="{3E804E29-120F-4500-927A-11D78EBA55CC}" type="presOf" srcId="{00C4043F-C175-43A7-83E3-0099A53B9975}" destId="{515B63EA-993C-456D-8519-CDBC49142609}" srcOrd="0" destOrd="0" presId="urn:microsoft.com/office/officeart/2005/8/layout/default"/>
    <dgm:cxn modelId="{E4D1C24D-F76C-483B-BBBD-BD828912F44E}" srcId="{A993B513-4404-459E-BCB0-449F714E6DB8}" destId="{59566DFD-49A0-4E60-8D26-43D84EDBF4DC}" srcOrd="1" destOrd="0" parTransId="{6D64425B-9AC6-4D61-BF82-500511062CAD}" sibTransId="{571753F2-A077-49D9-B27C-813BA76308E6}"/>
    <dgm:cxn modelId="{178AC47B-E2CD-4EAA-9EDA-719DB759761D}" type="presOf" srcId="{F6B81AA2-1213-449C-829A-FC9FA1175567}" destId="{875457B6-E94A-4FF9-91F5-9DAA38C1D7C9}" srcOrd="0" destOrd="0" presId="urn:microsoft.com/office/officeart/2005/8/layout/default"/>
    <dgm:cxn modelId="{F482BD92-7E3F-44A2-9CB5-CB360CEA4D28}" srcId="{A993B513-4404-459E-BCB0-449F714E6DB8}" destId="{15D29DA5-5364-4D1B-970D-C39A287812F4}" srcOrd="2" destOrd="0" parTransId="{3E69B478-C128-4DC0-83FF-56DAAFB656DF}" sibTransId="{0F5A5414-CB95-4C17-A001-7DB5349D2ADB}"/>
    <dgm:cxn modelId="{EF5FA497-5409-49ED-80E6-010CAC17EAF4}" type="presOf" srcId="{59566DFD-49A0-4E60-8D26-43D84EDBF4DC}" destId="{87E4E3F1-AC5A-42F2-9422-4FB0C28938E7}" srcOrd="0" destOrd="0" presId="urn:microsoft.com/office/officeart/2005/8/layout/default"/>
    <dgm:cxn modelId="{CF2DA89B-6803-414B-A9E3-D1D94E0C7EC9}" srcId="{A993B513-4404-459E-BCB0-449F714E6DB8}" destId="{047B74B5-D2E3-48DE-8465-C1E813076163}" srcOrd="4" destOrd="0" parTransId="{DBC0DF74-B1C0-4D6A-8FCE-B84FEDF3E079}" sibTransId="{84C58317-0E8A-4944-929E-48EE0FEE9D5E}"/>
    <dgm:cxn modelId="{ED0A309C-2836-4D06-B328-C6058C77D5CD}" srcId="{A993B513-4404-459E-BCB0-449F714E6DB8}" destId="{F6B81AA2-1213-449C-829A-FC9FA1175567}" srcOrd="3" destOrd="0" parTransId="{2CA9D5A5-7FF4-4DE1-B35F-5934BA70EC88}" sibTransId="{45A3ED8B-3065-476E-B61E-10864AB3A6A8}"/>
    <dgm:cxn modelId="{17CD6ABE-5DA3-4C99-92CE-176AC628A881}" type="presOf" srcId="{15D29DA5-5364-4D1B-970D-C39A287812F4}" destId="{24FDF1C3-1CDD-44B9-A0F3-CAF9AACFD921}" srcOrd="0" destOrd="0" presId="urn:microsoft.com/office/officeart/2005/8/layout/default"/>
    <dgm:cxn modelId="{EC940296-C568-49A9-9CFE-8FA4755C483F}" type="presParOf" srcId="{9F6741F6-2B1D-4521-83ED-87BC02DF821A}" destId="{515B63EA-993C-456D-8519-CDBC49142609}" srcOrd="0" destOrd="0" presId="urn:microsoft.com/office/officeart/2005/8/layout/default"/>
    <dgm:cxn modelId="{A19006FF-4B41-46EF-9C1C-A80CB58BAF16}" type="presParOf" srcId="{9F6741F6-2B1D-4521-83ED-87BC02DF821A}" destId="{ACAA6115-8F8F-42F1-B362-19090CE9FC37}" srcOrd="1" destOrd="0" presId="urn:microsoft.com/office/officeart/2005/8/layout/default"/>
    <dgm:cxn modelId="{7B3BE613-EE61-42F3-A6B6-EDBD1D17D0AC}" type="presParOf" srcId="{9F6741F6-2B1D-4521-83ED-87BC02DF821A}" destId="{87E4E3F1-AC5A-42F2-9422-4FB0C28938E7}" srcOrd="2" destOrd="0" presId="urn:microsoft.com/office/officeart/2005/8/layout/default"/>
    <dgm:cxn modelId="{27A13300-F344-4E16-BA18-353C23E71E45}" type="presParOf" srcId="{9F6741F6-2B1D-4521-83ED-87BC02DF821A}" destId="{D6ECCD59-A453-43D4-80C5-B674BDE0B6FF}" srcOrd="3" destOrd="0" presId="urn:microsoft.com/office/officeart/2005/8/layout/default"/>
    <dgm:cxn modelId="{2A726A18-FBAE-4AA6-86B1-E52297381F68}" type="presParOf" srcId="{9F6741F6-2B1D-4521-83ED-87BC02DF821A}" destId="{24FDF1C3-1CDD-44B9-A0F3-CAF9AACFD921}" srcOrd="4" destOrd="0" presId="urn:microsoft.com/office/officeart/2005/8/layout/default"/>
    <dgm:cxn modelId="{DFC78AC7-49CC-458B-99FE-E5FCC985B5DB}" type="presParOf" srcId="{9F6741F6-2B1D-4521-83ED-87BC02DF821A}" destId="{7B2C6182-12C3-4908-8B5B-861AA2AA1E16}" srcOrd="5" destOrd="0" presId="urn:microsoft.com/office/officeart/2005/8/layout/default"/>
    <dgm:cxn modelId="{A7811BB7-E255-4063-B647-9843960C6D27}" type="presParOf" srcId="{9F6741F6-2B1D-4521-83ED-87BC02DF821A}" destId="{875457B6-E94A-4FF9-91F5-9DAA38C1D7C9}" srcOrd="6" destOrd="0" presId="urn:microsoft.com/office/officeart/2005/8/layout/default"/>
    <dgm:cxn modelId="{6755B9CD-BDB0-4DE3-BCBC-7CD7C313BFC7}" type="presParOf" srcId="{9F6741F6-2B1D-4521-83ED-87BC02DF821A}" destId="{E249209C-DEAF-47AD-89E3-9DC0D69855AD}" srcOrd="7" destOrd="0" presId="urn:microsoft.com/office/officeart/2005/8/layout/default"/>
    <dgm:cxn modelId="{92A2A09C-202A-4E42-B3F4-3EE35AC1600C}" type="presParOf" srcId="{9F6741F6-2B1D-4521-83ED-87BC02DF821A}" destId="{A9823F51-2D4F-44C7-913A-3220065DB23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780C5B-C33B-4B37-AC65-CDA167ACB71A}">
      <dsp:nvSpPr>
        <dsp:cNvPr id="0" name=""/>
        <dsp:cNvSpPr/>
      </dsp:nvSpPr>
      <dsp:spPr>
        <a:xfrm>
          <a:off x="0" y="3466"/>
          <a:ext cx="7326387" cy="7383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C4CCE0-EAC8-4253-9CAA-8D8481C05BE3}">
      <dsp:nvSpPr>
        <dsp:cNvPr id="0" name=""/>
        <dsp:cNvSpPr/>
      </dsp:nvSpPr>
      <dsp:spPr>
        <a:xfrm>
          <a:off x="223352" y="169596"/>
          <a:ext cx="406095" cy="40609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97A56A-D745-4E68-8165-0080F2859809}">
      <dsp:nvSpPr>
        <dsp:cNvPr id="0" name=""/>
        <dsp:cNvSpPr/>
      </dsp:nvSpPr>
      <dsp:spPr>
        <a:xfrm>
          <a:off x="852799" y="3466"/>
          <a:ext cx="6473587" cy="738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43" tIns="78143" rIns="78143" bIns="7814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Problem : </a:t>
          </a:r>
          <a:r>
            <a:rPr lang="en-IN" sz="1800" kern="1200" dirty="0"/>
            <a:t>Identify whether astronomical observations correspond to exoplanet-related classes.</a:t>
          </a:r>
          <a:endParaRPr lang="en-US" sz="1800" kern="1200" dirty="0"/>
        </a:p>
      </dsp:txBody>
      <dsp:txXfrm>
        <a:off x="852799" y="3466"/>
        <a:ext cx="6473587" cy="738354"/>
      </dsp:txXfrm>
    </dsp:sp>
    <dsp:sp modelId="{2EB45D52-19BB-47C6-95B7-8162F4EB1490}">
      <dsp:nvSpPr>
        <dsp:cNvPr id="0" name=""/>
        <dsp:cNvSpPr/>
      </dsp:nvSpPr>
      <dsp:spPr>
        <a:xfrm>
          <a:off x="0" y="926409"/>
          <a:ext cx="7326387" cy="7383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766462-7405-4B99-9130-F4320E1D818C}">
      <dsp:nvSpPr>
        <dsp:cNvPr id="0" name=""/>
        <dsp:cNvSpPr/>
      </dsp:nvSpPr>
      <dsp:spPr>
        <a:xfrm>
          <a:off x="223352" y="1092539"/>
          <a:ext cx="406095" cy="40609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29450F-C68E-4E8A-BE2A-C9D25A8EB10D}">
      <dsp:nvSpPr>
        <dsp:cNvPr id="0" name=""/>
        <dsp:cNvSpPr/>
      </dsp:nvSpPr>
      <dsp:spPr>
        <a:xfrm>
          <a:off x="852799" y="926409"/>
          <a:ext cx="6473587" cy="738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43" tIns="78143" rIns="78143" bIns="7814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Problem type </a:t>
          </a:r>
          <a:r>
            <a:rPr lang="en-US" sz="1800" kern="1200" dirty="0"/>
            <a:t>: Classification in Machine Learning</a:t>
          </a:r>
          <a:endParaRPr lang="en-IN" sz="1800" kern="1200" dirty="0"/>
        </a:p>
      </dsp:txBody>
      <dsp:txXfrm>
        <a:off x="852799" y="926409"/>
        <a:ext cx="6473587" cy="738354"/>
      </dsp:txXfrm>
    </dsp:sp>
    <dsp:sp modelId="{DB92659A-3FA7-45F1-8F7B-CF868E04183D}">
      <dsp:nvSpPr>
        <dsp:cNvPr id="0" name=""/>
        <dsp:cNvSpPr/>
      </dsp:nvSpPr>
      <dsp:spPr>
        <a:xfrm>
          <a:off x="0" y="1849353"/>
          <a:ext cx="7326387" cy="7383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8A14A2-5EFF-41E4-BCF6-BB2C5F7F0242}">
      <dsp:nvSpPr>
        <dsp:cNvPr id="0" name=""/>
        <dsp:cNvSpPr/>
      </dsp:nvSpPr>
      <dsp:spPr>
        <a:xfrm>
          <a:off x="223352" y="2015482"/>
          <a:ext cx="406095" cy="40609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C0C39B-BBD1-42D0-A5B0-1B637700FFB3}">
      <dsp:nvSpPr>
        <dsp:cNvPr id="0" name=""/>
        <dsp:cNvSpPr/>
      </dsp:nvSpPr>
      <dsp:spPr>
        <a:xfrm>
          <a:off x="852799" y="1849353"/>
          <a:ext cx="6473587" cy="738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43" tIns="78143" rIns="78143" bIns="7814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Data : </a:t>
          </a:r>
          <a:r>
            <a:rPr lang="en-IN" sz="1800" kern="1200" dirty="0"/>
            <a:t>NASA/TESS exoplanet candidate observations with stellar and planetary measurements.</a:t>
          </a:r>
          <a:endParaRPr lang="en-US" sz="1800" kern="1200" dirty="0"/>
        </a:p>
      </dsp:txBody>
      <dsp:txXfrm>
        <a:off x="852799" y="1849353"/>
        <a:ext cx="6473587" cy="738354"/>
      </dsp:txXfrm>
    </dsp:sp>
    <dsp:sp modelId="{FB470E51-9971-4B03-90C8-94435823EF74}">
      <dsp:nvSpPr>
        <dsp:cNvPr id="0" name=""/>
        <dsp:cNvSpPr/>
      </dsp:nvSpPr>
      <dsp:spPr>
        <a:xfrm>
          <a:off x="0" y="2772296"/>
          <a:ext cx="7326387" cy="7383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2ADEF4-76B6-4424-9901-49C575085B05}">
      <dsp:nvSpPr>
        <dsp:cNvPr id="0" name=""/>
        <dsp:cNvSpPr/>
      </dsp:nvSpPr>
      <dsp:spPr>
        <a:xfrm>
          <a:off x="223352" y="2938426"/>
          <a:ext cx="406095" cy="40609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024244-BFB6-417B-A04C-1E84401D704C}">
      <dsp:nvSpPr>
        <dsp:cNvPr id="0" name=""/>
        <dsp:cNvSpPr/>
      </dsp:nvSpPr>
      <dsp:spPr>
        <a:xfrm>
          <a:off x="852799" y="2772296"/>
          <a:ext cx="6473587" cy="738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43" tIns="78143" rIns="78143" bIns="7814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Approach : </a:t>
          </a:r>
          <a:r>
            <a:rPr lang="en-IN" sz="1800" kern="1200" dirty="0"/>
            <a:t>Cleaning | EDA | feature engineering | model training | tuning | evaluation.</a:t>
          </a:r>
          <a:endParaRPr lang="en-US" sz="1800" kern="1200" dirty="0"/>
        </a:p>
      </dsp:txBody>
      <dsp:txXfrm>
        <a:off x="852799" y="2772296"/>
        <a:ext cx="6473587" cy="738354"/>
      </dsp:txXfrm>
    </dsp:sp>
    <dsp:sp modelId="{2ED25C8E-4908-469C-B75D-DC0842EA1218}">
      <dsp:nvSpPr>
        <dsp:cNvPr id="0" name=""/>
        <dsp:cNvSpPr/>
      </dsp:nvSpPr>
      <dsp:spPr>
        <a:xfrm>
          <a:off x="0" y="3698706"/>
          <a:ext cx="7326387" cy="7383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7E2AF3-920E-467D-A3F4-C039B3FFD0A0}">
      <dsp:nvSpPr>
        <dsp:cNvPr id="0" name=""/>
        <dsp:cNvSpPr/>
      </dsp:nvSpPr>
      <dsp:spPr>
        <a:xfrm>
          <a:off x="223352" y="3861369"/>
          <a:ext cx="406095" cy="40609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0E42BC-8491-4E16-900E-EC5986C9D557}">
      <dsp:nvSpPr>
        <dsp:cNvPr id="0" name=""/>
        <dsp:cNvSpPr/>
      </dsp:nvSpPr>
      <dsp:spPr>
        <a:xfrm>
          <a:off x="852799" y="3695239"/>
          <a:ext cx="6473587" cy="738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43" tIns="78143" rIns="78143" bIns="7814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Output taken : </a:t>
          </a:r>
          <a:r>
            <a:rPr lang="en-IN" sz="1800" kern="1200" dirty="0"/>
            <a:t>Binary classification + multiclass classification + Flask deployment.</a:t>
          </a:r>
          <a:endParaRPr lang="en-US" sz="1800" kern="1200" dirty="0"/>
        </a:p>
      </dsp:txBody>
      <dsp:txXfrm>
        <a:off x="852799" y="3695239"/>
        <a:ext cx="6473587" cy="7383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CD381E-2C57-400A-AE96-61AC9B7009DE}">
      <dsp:nvSpPr>
        <dsp:cNvPr id="0" name=""/>
        <dsp:cNvSpPr/>
      </dsp:nvSpPr>
      <dsp:spPr>
        <a:xfrm>
          <a:off x="0" y="1788"/>
          <a:ext cx="52879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3568A8-412C-4434-BC81-0147D79F08C4}">
      <dsp:nvSpPr>
        <dsp:cNvPr id="0" name=""/>
        <dsp:cNvSpPr/>
      </dsp:nvSpPr>
      <dsp:spPr>
        <a:xfrm>
          <a:off x="0" y="1788"/>
          <a:ext cx="5287955" cy="1219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Dataset Source : </a:t>
          </a:r>
          <a:r>
            <a:rPr lang="en-US" sz="1700" kern="1200"/>
            <a:t>NASA Exoplanet Archive / </a:t>
          </a:r>
          <a:r>
            <a:rPr lang="en-IN" sz="1700" kern="1200">
              <a:hlinkClick xmlns:r="http://schemas.openxmlformats.org/officeDocument/2006/relationships" r:id="rId1"/>
            </a:rPr>
            <a:t>TESS Project Candidates Table</a:t>
          </a:r>
          <a:endParaRPr lang="en-US" sz="1700" kern="1200"/>
        </a:p>
      </dsp:txBody>
      <dsp:txXfrm>
        <a:off x="0" y="1788"/>
        <a:ext cx="5287955" cy="1219714"/>
      </dsp:txXfrm>
    </dsp:sp>
    <dsp:sp modelId="{BA761A4D-B147-433B-B0A8-DC4BCF8798DB}">
      <dsp:nvSpPr>
        <dsp:cNvPr id="0" name=""/>
        <dsp:cNvSpPr/>
      </dsp:nvSpPr>
      <dsp:spPr>
        <a:xfrm>
          <a:off x="0" y="1221502"/>
          <a:ext cx="52879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E11137-EF39-432A-950A-E68E3D3223B6}">
      <dsp:nvSpPr>
        <dsp:cNvPr id="0" name=""/>
        <dsp:cNvSpPr/>
      </dsp:nvSpPr>
      <dsp:spPr>
        <a:xfrm>
          <a:off x="0" y="1221502"/>
          <a:ext cx="5287955" cy="1219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Target : </a:t>
          </a:r>
          <a:r>
            <a:rPr lang="en-IN" sz="1700" kern="1200"/>
            <a:t>“ </a:t>
          </a:r>
          <a:r>
            <a:rPr lang="en-IN" sz="1700" u="sng" kern="1200"/>
            <a:t>tfopwg_disp </a:t>
          </a:r>
          <a:r>
            <a:rPr lang="en-IN" sz="1700" kern="1200"/>
            <a:t>” </a:t>
          </a:r>
          <a:r>
            <a:rPr lang="en-IN" sz="1700" b="1" kern="1200"/>
            <a:t>,</a:t>
          </a:r>
          <a:r>
            <a:rPr lang="en-IN" sz="1700" kern="1200"/>
            <a:t>  represents the TFOPWG (TESS Follow-up Observing Program Working Group) disposition of each objects.</a:t>
          </a:r>
          <a:endParaRPr lang="en-US" sz="1700" kern="1200"/>
        </a:p>
      </dsp:txBody>
      <dsp:txXfrm>
        <a:off x="0" y="1221502"/>
        <a:ext cx="5287955" cy="1219714"/>
      </dsp:txXfrm>
    </dsp:sp>
    <dsp:sp modelId="{2EB1AE21-9E0C-45F7-9A61-BD3A2A33AD26}">
      <dsp:nvSpPr>
        <dsp:cNvPr id="0" name=""/>
        <dsp:cNvSpPr/>
      </dsp:nvSpPr>
      <dsp:spPr>
        <a:xfrm>
          <a:off x="0" y="2441216"/>
          <a:ext cx="52879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91ECEF-8BB9-4507-B4E2-E8A768DEE449}">
      <dsp:nvSpPr>
        <dsp:cNvPr id="0" name=""/>
        <dsp:cNvSpPr/>
      </dsp:nvSpPr>
      <dsp:spPr>
        <a:xfrm>
          <a:off x="0" y="2441216"/>
          <a:ext cx="5287955" cy="1219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Features : </a:t>
          </a:r>
          <a:r>
            <a:rPr lang="en-IN" sz="1700" kern="1200"/>
            <a:t>They represent sky position, stellar motion/properties, and transit/planet properties, giving the models both stellar and planetary information.</a:t>
          </a:r>
          <a:endParaRPr lang="en-US" sz="1700" kern="1200"/>
        </a:p>
      </dsp:txBody>
      <dsp:txXfrm>
        <a:off x="0" y="2441216"/>
        <a:ext cx="5287955" cy="12197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6DB6E7-4E57-4E8C-9515-99631E4E7044}">
      <dsp:nvSpPr>
        <dsp:cNvPr id="0" name=""/>
        <dsp:cNvSpPr/>
      </dsp:nvSpPr>
      <dsp:spPr>
        <a:xfrm>
          <a:off x="0" y="32602"/>
          <a:ext cx="6660247" cy="178278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Stellar Luminosity 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 Derived from stellar radius/temperature-related information to represent stellar energy output.</a:t>
          </a:r>
        </a:p>
      </dsp:txBody>
      <dsp:txXfrm>
        <a:off x="87028" y="119630"/>
        <a:ext cx="6486191" cy="1608731"/>
      </dsp:txXfrm>
    </dsp:sp>
    <dsp:sp modelId="{E17DAD98-4A28-461A-99B4-73F07025765E}">
      <dsp:nvSpPr>
        <dsp:cNvPr id="0" name=""/>
        <dsp:cNvSpPr/>
      </dsp:nvSpPr>
      <dsp:spPr>
        <a:xfrm>
          <a:off x="0" y="1881629"/>
          <a:ext cx="6660247" cy="178278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Stellar Surface Area 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Derived from stellar radius to provide an additional physical property. </a:t>
          </a:r>
        </a:p>
      </dsp:txBody>
      <dsp:txXfrm>
        <a:off x="87028" y="1968657"/>
        <a:ext cx="6486191" cy="1608731"/>
      </dsp:txXfrm>
    </dsp:sp>
    <dsp:sp modelId="{962B2926-6B15-47E0-931C-7B1B39EB4A1A}">
      <dsp:nvSpPr>
        <dsp:cNvPr id="0" name=""/>
        <dsp:cNvSpPr/>
      </dsp:nvSpPr>
      <dsp:spPr>
        <a:xfrm>
          <a:off x="0" y="3730657"/>
          <a:ext cx="6660247" cy="178278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Transit Signal 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Combines transit-related measurements to represent the strength of the observed transit signal.</a:t>
          </a:r>
        </a:p>
      </dsp:txBody>
      <dsp:txXfrm>
        <a:off x="87028" y="3817685"/>
        <a:ext cx="6486191" cy="16087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5B63EA-993C-456D-8519-CDBC49142609}">
      <dsp:nvSpPr>
        <dsp:cNvPr id="0" name=""/>
        <dsp:cNvSpPr/>
      </dsp:nvSpPr>
      <dsp:spPr>
        <a:xfrm>
          <a:off x="3700" y="462633"/>
          <a:ext cx="2003465" cy="12020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User</a:t>
          </a:r>
          <a:r>
            <a:rPr lang="en-IN" sz="2100" kern="1200" dirty="0"/>
            <a:t>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kern="1200" dirty="0"/>
            <a:t>Enters 15 feature values</a:t>
          </a:r>
        </a:p>
      </dsp:txBody>
      <dsp:txXfrm>
        <a:off x="3700" y="462633"/>
        <a:ext cx="2003465" cy="1202079"/>
      </dsp:txXfrm>
    </dsp:sp>
    <dsp:sp modelId="{87E4E3F1-AC5A-42F2-9422-4FB0C28938E7}">
      <dsp:nvSpPr>
        <dsp:cNvPr id="0" name=""/>
        <dsp:cNvSpPr/>
      </dsp:nvSpPr>
      <dsp:spPr>
        <a:xfrm>
          <a:off x="2207512" y="462633"/>
          <a:ext cx="2003465" cy="12020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Flask App </a:t>
          </a:r>
          <a:r>
            <a:rPr lang="en-IN" sz="2100" b="0" kern="1200" dirty="0"/>
            <a:t>Receives and validates input</a:t>
          </a:r>
        </a:p>
      </dsp:txBody>
      <dsp:txXfrm>
        <a:off x="2207512" y="462633"/>
        <a:ext cx="2003465" cy="1202079"/>
      </dsp:txXfrm>
    </dsp:sp>
    <dsp:sp modelId="{24FDF1C3-1CDD-44B9-A0F3-CAF9AACFD921}">
      <dsp:nvSpPr>
        <dsp:cNvPr id="0" name=""/>
        <dsp:cNvSpPr/>
      </dsp:nvSpPr>
      <dsp:spPr>
        <a:xfrm>
          <a:off x="4411324" y="462633"/>
          <a:ext cx="2003465" cy="12020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Predictor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Loads saved Random Forest models</a:t>
          </a:r>
        </a:p>
      </dsp:txBody>
      <dsp:txXfrm>
        <a:off x="4411324" y="462633"/>
        <a:ext cx="2003465" cy="1202079"/>
      </dsp:txXfrm>
    </dsp:sp>
    <dsp:sp modelId="{875457B6-E94A-4FF9-91F5-9DAA38C1D7C9}">
      <dsp:nvSpPr>
        <dsp:cNvPr id="0" name=""/>
        <dsp:cNvSpPr/>
      </dsp:nvSpPr>
      <dsp:spPr>
        <a:xfrm>
          <a:off x="6615136" y="462633"/>
          <a:ext cx="2003465" cy="12020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Models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 Binary + multiclass prediction</a:t>
          </a:r>
        </a:p>
      </dsp:txBody>
      <dsp:txXfrm>
        <a:off x="6615136" y="462633"/>
        <a:ext cx="2003465" cy="1202079"/>
      </dsp:txXfrm>
    </dsp:sp>
    <dsp:sp modelId="{A9823F51-2D4F-44C7-913A-3220065DB236}">
      <dsp:nvSpPr>
        <dsp:cNvPr id="0" name=""/>
        <dsp:cNvSpPr/>
      </dsp:nvSpPr>
      <dsp:spPr>
        <a:xfrm>
          <a:off x="8818949" y="462633"/>
          <a:ext cx="2003465" cy="12020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Result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Prediction displayed in browser</a:t>
          </a:r>
        </a:p>
      </dsp:txBody>
      <dsp:txXfrm>
        <a:off x="8818949" y="462633"/>
        <a:ext cx="2003465" cy="12020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518760-62E7-447C-8229-A6F83DC12B9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DDA87A-002E-49EB-8BB0-E9B2DEAC8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882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DA87A-002E-49EB-8BB0-E9B2DEAC83A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594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DF10C-747C-649E-D3DD-E3B660A19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CF9F37-97B5-9AC7-F811-23AB8E98B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0D10D-C709-57D5-9BB0-05BB3CC6D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7379-7319-4012-929E-F927B50F3B8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0F3D2-B51A-0309-2228-171CAE1D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55E22-1A70-AD5D-0B1D-5D8E852B6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4EE6-856C-42C4-876B-8B4FD2B2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867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E56A7-9C15-DAF4-643C-67D57D9D3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5E621-51B0-100A-36F2-302758163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49E84-2668-8905-8114-BBB025A6A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7379-7319-4012-929E-F927B50F3B8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4B85B-E31C-3ACC-AD9E-920619B6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EA598-D155-7FD4-336E-FAA1A717F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4EE6-856C-42C4-876B-8B4FD2B2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450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23275-D86C-42C6-49E4-17BCE2144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B58D3-44AB-DD26-2887-0661A31B5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4D669-091B-DE16-C17F-86E05691D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7379-7319-4012-929E-F927B50F3B8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24273-B0B4-D7A6-F08D-E79272381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973F4-C481-D5FB-9997-52D335F2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4EE6-856C-42C4-876B-8B4FD2B2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446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F8486-6F99-2792-B17A-950969BE5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E7E65-BC8A-1855-1E16-6CC963493C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1B6D65-B33D-5BBD-6F51-892D92B63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2F2BA-58C4-B92B-9B62-19D020051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7379-7319-4012-929E-F927B50F3B8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B119F-C5EE-30F2-A835-74CA59F0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766F6-8F1D-C3C2-4FDB-8FC484630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4EE6-856C-42C4-876B-8B4FD2B2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266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B8DA-3325-F4A2-ECBE-D48B85357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80098-EAAA-2262-4644-A7E408FFB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599A0-ACAE-C6F4-20FD-9846F1E9B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D1991-E3F2-D69F-C76E-C2F81D3764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076C5B-1D35-95A4-A100-7BEFA6D437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88336D-9BA9-5803-0B0E-34F345C91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7379-7319-4012-929E-F927B50F3B8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364935-0041-5838-4319-C817EB2CD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89840-0385-0E5E-1C9C-148FB77A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4EE6-856C-42C4-876B-8B4FD2B2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864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05D8A-662F-7F57-03E2-4C44FBCE7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708D14-FD37-4B88-7572-6B2CBF80C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7379-7319-4012-929E-F927B50F3B8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C11BBB-984E-A3BC-D5C1-A2BFEE819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711D2-F0D0-487A-B5A0-26B7FB0F1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4EE6-856C-42C4-876B-8B4FD2B2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650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261ADF-728B-F6A4-C0E6-849F54523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7379-7319-4012-929E-F927B50F3B8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4BFCB-99CC-CD4B-FAC7-C05E47EC5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DC569-7B96-B7C8-3E3F-FD39B393E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4EE6-856C-42C4-876B-8B4FD2B2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622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C0AD-F021-902A-C30A-49654C1D6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5CA83-8F0E-E0F5-7C55-F8E97BB91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5A35C-8552-8581-C358-6EC138FD1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7FA1B-3CAF-675D-7260-5341425C7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7379-7319-4012-929E-F927B50F3B8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75E40-E250-0FE0-F2A1-E7ADE2CE8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63780-9E24-5DA6-6312-4435A83A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4EE6-856C-42C4-876B-8B4FD2B2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994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43879-86D9-F367-001E-02A2181D9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7A71FD-03A9-15CF-C95E-63A2E9E21D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9DFF7-3A15-0447-CA2D-F4A109553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BC2AD-F987-20D3-F4F6-FD7B34A2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7379-7319-4012-929E-F927B50F3B8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FDF01-52A9-1552-738C-240EE5F7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F4A1F-3B2E-1A6D-96ED-C6ED029C3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4EE6-856C-42C4-876B-8B4FD2B2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648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D933-16DA-18F7-02A6-346976030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6CBD5-B519-3E72-AE01-7B880F814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7B33C-8278-3A58-9CB9-4A769DE3B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7379-7319-4012-929E-F927B50F3B8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F5F18-D40B-6BBB-7528-867E8F113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4EDAE-9AA6-30F1-6936-E77C63BC6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4EE6-856C-42C4-876B-8B4FD2B2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536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F87312-504E-B91A-2769-5D35E6DACA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68F834-663A-97C0-5AC1-2DE169977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8412B-1B12-A47A-981E-CD0310B4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7379-7319-4012-929E-F927B50F3B8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2B290-BC82-21D1-3690-4F04C70C3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472A6-FC1C-6EDA-BE6A-FB81D5BC8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4EE6-856C-42C4-876B-8B4FD2B2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230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05D3C4-C069-1116-6DF5-ECF0C2AB4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854ED-8B65-01D4-628A-A1C24E586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233FA-1571-368C-E019-7E212304A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837379-7319-4012-929E-F927B50F3B8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A8A04-0BC5-D4BD-A9B4-DF4DA2448E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14913-E9A6-D338-08E0-26132AB15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D94EE6-856C-42C4-876B-8B4FD2B23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151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search?wallpaper=exoplanets&amp;page=2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96CF2A2B-0745-440C-9224-C5C6A0A42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BE6D6B-84C9-4D2B-97EB-773B7369E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8477DB9-9133-DA5B-85FD-DB1C63815ED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6ECF5D-E758-CD3D-76ED-132CCE855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771" y="970155"/>
            <a:ext cx="11273883" cy="199420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500" dirty="0">
                <a:solidFill>
                  <a:srgbClr val="FFFFFF"/>
                </a:solidFill>
              </a:rPr>
              <a:t>NASA Exoplanet Detection and Classification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D5720-2CC7-8DF6-6B9E-C56F6B36A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3103" y="3265822"/>
            <a:ext cx="9562746" cy="2287485"/>
          </a:xfrm>
        </p:spPr>
        <p:txBody>
          <a:bodyPr vert="horz" lIns="91440" tIns="45720" rIns="91440" bIns="45720" rtlCol="0">
            <a:no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Presented by : </a:t>
            </a:r>
            <a:r>
              <a:rPr lang="en-US" sz="2400" dirty="0" err="1">
                <a:solidFill>
                  <a:srgbClr val="FFFFFF"/>
                </a:solidFill>
              </a:rPr>
              <a:t>Sifana</a:t>
            </a:r>
            <a:r>
              <a:rPr lang="en-US" sz="2400" dirty="0">
                <a:solidFill>
                  <a:srgbClr val="FFFFFF"/>
                </a:solidFill>
              </a:rPr>
              <a:t> P V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Program : Advanced Program in Data Science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Project type : Final Capstone Project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Technologies Used : Python | Data Science | ML | Deployment .</a:t>
            </a:r>
          </a:p>
        </p:txBody>
      </p:sp>
    </p:spTree>
    <p:extLst>
      <p:ext uri="{BB962C8B-B14F-4D97-AF65-F5344CB8AC3E}">
        <p14:creationId xmlns:p14="http://schemas.microsoft.com/office/powerpoint/2010/main" val="2879065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0EDDD1-52E1-D9EE-1C65-1E078CC5E5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Overview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EC3CC-59EC-0E8B-E0D2-3228D502E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69324" y="2255900"/>
            <a:ext cx="3445727" cy="4967225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900" b="1" dirty="0"/>
              <a:t>Exoplanets</a:t>
            </a:r>
            <a:r>
              <a:rPr lang="en-US" sz="1900" dirty="0"/>
              <a:t> : </a:t>
            </a:r>
          </a:p>
          <a:p>
            <a:r>
              <a:rPr lang="en-US" sz="1900" dirty="0"/>
              <a:t>    planets that exist beyond our Solar System and are an important area of modern astronomical research.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900" b="1" dirty="0"/>
              <a:t>TESS(Transiting Exoplanet Survey Satellite) </a:t>
            </a:r>
            <a:r>
              <a:rPr lang="en-US" sz="1900" dirty="0"/>
              <a:t>: </a:t>
            </a:r>
          </a:p>
          <a:p>
            <a:r>
              <a:rPr lang="en-US" sz="1900" dirty="0"/>
              <a:t>NASA space telescope designed to discover exoplanets by observing temporary changes in the brightness of stars during planetary transits.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graphicFrame>
        <p:nvGraphicFramePr>
          <p:cNvPr id="12" name="TextBox 4">
            <a:extLst>
              <a:ext uri="{FF2B5EF4-FFF2-40B4-BE49-F238E27FC236}">
                <a16:creationId xmlns:a16="http://schemas.microsoft.com/office/drawing/2014/main" id="{4C134C66-D0E5-828B-C76E-AA3BFB3F2C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7149613"/>
              </p:ext>
            </p:extLst>
          </p:nvPr>
        </p:nvGraphicFramePr>
        <p:xfrm>
          <a:off x="669036" y="2055813"/>
          <a:ext cx="7326387" cy="4437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49588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7880FF-B1CC-E2EF-3AE8-B15015F41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Objectives</a:t>
            </a:r>
            <a:endParaRPr lang="en-IN" sz="5400" dirty="0"/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38087-1671-0D08-61A9-93DEE4570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IN" sz="2200" b="1"/>
              <a:t>Explore the NASA/TESS exoplanet dataset </a:t>
            </a:r>
            <a:r>
              <a:rPr lang="en-IN" sz="2200"/>
              <a:t>and understand its structure and variables. </a:t>
            </a:r>
          </a:p>
          <a:p>
            <a:r>
              <a:rPr lang="en-IN" sz="2200" b="1"/>
              <a:t>Clean missing</a:t>
            </a:r>
            <a:r>
              <a:rPr lang="en-IN" sz="2200"/>
              <a:t>, </a:t>
            </a:r>
            <a:r>
              <a:rPr lang="en-IN" sz="2200" b="1"/>
              <a:t>invalid</a:t>
            </a:r>
            <a:r>
              <a:rPr lang="en-IN" sz="2200"/>
              <a:t> and </a:t>
            </a:r>
            <a:r>
              <a:rPr lang="en-IN" sz="2200" b="1"/>
              <a:t>inconsistent</a:t>
            </a:r>
            <a:r>
              <a:rPr lang="en-IN" sz="2200"/>
              <a:t> astronomical measurements. </a:t>
            </a:r>
          </a:p>
          <a:p>
            <a:r>
              <a:rPr lang="en-IN" sz="2200"/>
              <a:t>Perform </a:t>
            </a:r>
            <a:r>
              <a:rPr lang="en-IN" sz="2200" b="1"/>
              <a:t>EDA</a:t>
            </a:r>
            <a:r>
              <a:rPr lang="en-IN" sz="2200"/>
              <a:t> to understand confirmed, candidate and false-positive observations. </a:t>
            </a:r>
          </a:p>
          <a:p>
            <a:r>
              <a:rPr lang="en-IN" sz="2200"/>
              <a:t> Select relevant numerical features and apply </a:t>
            </a:r>
            <a:r>
              <a:rPr lang="en-IN" sz="2200" b="1"/>
              <a:t>preprocessing</a:t>
            </a:r>
            <a:r>
              <a:rPr lang="en-IN" sz="2200"/>
              <a:t> and </a:t>
            </a:r>
            <a:r>
              <a:rPr lang="en-IN" sz="2200" b="1"/>
              <a:t>feature engineering</a:t>
            </a:r>
            <a:r>
              <a:rPr lang="en-IN" sz="2200"/>
              <a:t>.  </a:t>
            </a:r>
          </a:p>
          <a:p>
            <a:r>
              <a:rPr lang="en-IN" sz="2200" b="1"/>
              <a:t>Train</a:t>
            </a:r>
            <a:r>
              <a:rPr lang="en-IN" sz="2200"/>
              <a:t> and </a:t>
            </a:r>
            <a:r>
              <a:rPr lang="en-IN" sz="2200" b="1"/>
              <a:t>compare</a:t>
            </a:r>
            <a:r>
              <a:rPr lang="en-IN" sz="2200"/>
              <a:t> multiple classification algorithms.</a:t>
            </a:r>
          </a:p>
          <a:p>
            <a:r>
              <a:rPr lang="en-IN" sz="2200"/>
              <a:t> </a:t>
            </a:r>
            <a:r>
              <a:rPr lang="en-IN" sz="2200" b="1"/>
              <a:t>Evaluate models </a:t>
            </a:r>
            <a:r>
              <a:rPr lang="en-IN" sz="2200"/>
              <a:t>using </a:t>
            </a:r>
            <a:r>
              <a:rPr lang="en-IN" sz="2200" b="1"/>
              <a:t>Accuracy</a:t>
            </a:r>
            <a:r>
              <a:rPr lang="en-IN" sz="2200"/>
              <a:t>, </a:t>
            </a:r>
            <a:r>
              <a:rPr lang="en-IN" sz="2200" b="1"/>
              <a:t>Precision</a:t>
            </a:r>
            <a:r>
              <a:rPr lang="en-IN" sz="2200"/>
              <a:t>, </a:t>
            </a:r>
            <a:r>
              <a:rPr lang="en-IN" sz="2200" b="1"/>
              <a:t>Recall </a:t>
            </a:r>
            <a:r>
              <a:rPr lang="en-IN" sz="2200"/>
              <a:t> and </a:t>
            </a:r>
            <a:r>
              <a:rPr lang="en-IN" sz="2200" b="1"/>
              <a:t>F1-score</a:t>
            </a:r>
            <a:r>
              <a:rPr lang="en-IN" sz="2200"/>
              <a:t>. </a:t>
            </a:r>
          </a:p>
          <a:p>
            <a:r>
              <a:rPr lang="en-IN" sz="2200"/>
              <a:t> Tune promising models using </a:t>
            </a:r>
            <a:r>
              <a:rPr lang="en-IN" sz="2200" b="1"/>
              <a:t>cross-validation</a:t>
            </a:r>
            <a:r>
              <a:rPr lang="en-IN" sz="2200"/>
              <a:t> and </a:t>
            </a:r>
            <a:r>
              <a:rPr lang="en-IN" sz="2200" b="1"/>
              <a:t>hyperparameter search</a:t>
            </a:r>
            <a:r>
              <a:rPr lang="en-IN" sz="2200"/>
              <a:t>.</a:t>
            </a:r>
          </a:p>
          <a:p>
            <a:r>
              <a:rPr lang="en-IN" sz="2200" b="1"/>
              <a:t> Deploy </a:t>
            </a:r>
            <a:r>
              <a:rPr lang="en-IN" sz="2200"/>
              <a:t>the selected models through a Flask web application.</a:t>
            </a:r>
          </a:p>
        </p:txBody>
      </p:sp>
    </p:spTree>
    <p:extLst>
      <p:ext uri="{BB962C8B-B14F-4D97-AF65-F5344CB8AC3E}">
        <p14:creationId xmlns:p14="http://schemas.microsoft.com/office/powerpoint/2010/main" val="3859223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42185A-5D7B-3737-6501-220B0A87D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5124583" cy="1800526"/>
          </a:xfrm>
        </p:spPr>
        <p:txBody>
          <a:bodyPr>
            <a:normAutofit/>
          </a:bodyPr>
          <a:lstStyle/>
          <a:p>
            <a:pPr algn="ctr"/>
            <a:r>
              <a:rPr lang="en-US" sz="4100" dirty="0"/>
              <a:t>Dataset and Selected Features</a:t>
            </a:r>
            <a:endParaRPr lang="en-IN" sz="4100" dirty="0"/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EAA2D6B7-CBF6-C017-DB9E-5ADE41D44C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1692471"/>
              </p:ext>
            </p:extLst>
          </p:nvPr>
        </p:nvGraphicFramePr>
        <p:xfrm>
          <a:off x="674829" y="2551814"/>
          <a:ext cx="5287955" cy="36627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C9635E-9F3B-6126-54EF-C564D4456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29199"/>
              </p:ext>
            </p:extLst>
          </p:nvPr>
        </p:nvGraphicFramePr>
        <p:xfrm>
          <a:off x="6358270" y="244549"/>
          <a:ext cx="5422604" cy="6332972"/>
        </p:xfrm>
        <a:graphic>
          <a:graphicData uri="http://schemas.openxmlformats.org/drawingml/2006/table">
            <a:tbl>
              <a:tblPr/>
              <a:tblGrid>
                <a:gridCol w="1089753">
                  <a:extLst>
                    <a:ext uri="{9D8B030D-6E8A-4147-A177-3AD203B41FA5}">
                      <a16:colId xmlns:a16="http://schemas.microsoft.com/office/drawing/2014/main" val="1451567400"/>
                    </a:ext>
                  </a:extLst>
                </a:gridCol>
                <a:gridCol w="4332851">
                  <a:extLst>
                    <a:ext uri="{9D8B030D-6E8A-4147-A177-3AD203B41FA5}">
                      <a16:colId xmlns:a16="http://schemas.microsoft.com/office/drawing/2014/main" val="1542042593"/>
                    </a:ext>
                  </a:extLst>
                </a:gridCol>
              </a:tblGrid>
              <a:tr h="258868"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Column</a:t>
                      </a:r>
                      <a:endParaRPr lang="en-IN" sz="18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Meaning</a:t>
                      </a:r>
                      <a:endParaRPr lang="en-IN" sz="1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671290"/>
                  </a:ext>
                </a:extLst>
              </a:tr>
              <a:tr h="415374"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 dirty="0" err="1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ra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Right Ascension</a:t>
                      </a:r>
                      <a:r>
                        <a:rPr lang="en-IN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— the position of the star in the sky, similar to longitude on Earth.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1241445"/>
                  </a:ext>
                </a:extLst>
              </a:tr>
              <a:tr h="415374"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dec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Declination</a:t>
                      </a:r>
                      <a:r>
                        <a:rPr lang="en-IN" sz="9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— the position of the star north or south in the sky, similar to latitude on Earth.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730660"/>
                  </a:ext>
                </a:extLst>
              </a:tr>
              <a:tr h="415374"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st_pmra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Star's </a:t>
                      </a: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proper motion in Right Ascension</a:t>
                      </a:r>
                      <a:r>
                        <a:rPr lang="en-IN" sz="9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— how the star appears to move across the sky in that direction.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568855"/>
                  </a:ext>
                </a:extLst>
              </a:tr>
              <a:tr h="415374"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st_pmdec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Star's </a:t>
                      </a: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proper motion in Declination</a:t>
                      </a:r>
                      <a:r>
                        <a:rPr lang="en-IN" sz="9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— how the star appears to move across the sky in that direction.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518100"/>
                  </a:ext>
                </a:extLst>
              </a:tr>
              <a:tr h="415374"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pl_tranmid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Transit midpoint time</a:t>
                      </a:r>
                      <a:r>
                        <a:rPr lang="en-IN" sz="9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— the time at which the planet is approximately in the middle of its transit across the star.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622627"/>
                  </a:ext>
                </a:extLst>
              </a:tr>
              <a:tr h="415374"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pl_orbper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Orbital period</a:t>
                      </a:r>
                      <a:r>
                        <a:rPr lang="en-IN" sz="9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— how long the planet takes to complete one orbit around its star.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091631"/>
                  </a:ext>
                </a:extLst>
              </a:tr>
              <a:tr h="415374"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pl_trandep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Transit depth</a:t>
                      </a:r>
                      <a:r>
                        <a:rPr lang="en-IN" sz="9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— how much the star's brightness decreases when the planet passes in front of it.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703511"/>
                  </a:ext>
                </a:extLst>
              </a:tr>
              <a:tr h="415374"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pl_rade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Planet radius</a:t>
                      </a:r>
                      <a:r>
                        <a:rPr lang="en-IN" sz="9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— estimated radius of the planet, generally expressed relative to Earth.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845125"/>
                  </a:ext>
                </a:extLst>
              </a:tr>
              <a:tr h="415374"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pl_insol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Planetary insolation</a:t>
                      </a:r>
                      <a:r>
                        <a:rPr lang="en-IN" sz="9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— amount of stellar energy received by the planet compared with Earth.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290688"/>
                  </a:ext>
                </a:extLst>
              </a:tr>
              <a:tr h="415374"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pl_eqt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Equilibrium temperature</a:t>
                      </a:r>
                      <a:r>
                        <a:rPr lang="en-IN" sz="9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— estimated temperature of the planet based mainly on the energy received from its star.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441717"/>
                  </a:ext>
                </a:extLst>
              </a:tr>
              <a:tr h="415374"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st_tmag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TESS magnitude</a:t>
                      </a:r>
                      <a:r>
                        <a:rPr lang="en-IN" sz="9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— brightness of the star as measured in the TESS observation system. Lower magnitude generally means a brighter star.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607681"/>
                  </a:ext>
                </a:extLst>
              </a:tr>
              <a:tr h="415374"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st_dist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Stellar distance</a:t>
                      </a:r>
                      <a:r>
                        <a:rPr lang="en-IN" sz="9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— distance between Earth and the star, usually measured in parsecs.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077132"/>
                  </a:ext>
                </a:extLst>
              </a:tr>
              <a:tr h="415374"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st_teff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Stellar effective temperature</a:t>
                      </a:r>
                      <a:r>
                        <a:rPr lang="en-IN" sz="9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— temperature representing the star's surface radiation, measured in Kelvin.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491597"/>
                  </a:ext>
                </a:extLst>
              </a:tr>
              <a:tr h="415374"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st_logg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Stellar surface gravity</a:t>
                      </a:r>
                      <a:r>
                        <a:rPr lang="en-IN" sz="900" b="0" i="0" u="none" strike="noStrike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— a measure of the gravitational acceleration at the star's surface.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768973"/>
                  </a:ext>
                </a:extLst>
              </a:tr>
              <a:tr h="258868"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st_rad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3152" algn="l" fontAlgn="ctr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Stellar radius</a:t>
                      </a:r>
                      <a:r>
                        <a:rPr lang="en-IN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— estimated size/radius of the star, usually relative to the Sun.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46" marR="56546" marT="28273" marB="282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46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0069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7" name="Rectangle 16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B5BBB3-AB77-F909-3AC4-D6EF005AD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Cleaning and Preprocessing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F15AEA7-7A0C-CCB4-2BEA-748EEE8A37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4373756"/>
              </p:ext>
            </p:extLst>
          </p:nvPr>
        </p:nvGraphicFramePr>
        <p:xfrm>
          <a:off x="432223" y="2019480"/>
          <a:ext cx="11327550" cy="4392198"/>
        </p:xfrm>
        <a:graphic>
          <a:graphicData uri="http://schemas.openxmlformats.org/drawingml/2006/table">
            <a:tbl>
              <a:tblPr>
                <a:noFill/>
                <a:tableStyleId>{3B4B98B0-60AC-42C2-AFA5-B58CD77FA1E5}</a:tableStyleId>
              </a:tblPr>
              <a:tblGrid>
                <a:gridCol w="2576072">
                  <a:extLst>
                    <a:ext uri="{9D8B030D-6E8A-4147-A177-3AD203B41FA5}">
                      <a16:colId xmlns:a16="http://schemas.microsoft.com/office/drawing/2014/main" val="3751850358"/>
                    </a:ext>
                  </a:extLst>
                </a:gridCol>
                <a:gridCol w="8751478">
                  <a:extLst>
                    <a:ext uri="{9D8B030D-6E8A-4147-A177-3AD203B41FA5}">
                      <a16:colId xmlns:a16="http://schemas.microsoft.com/office/drawing/2014/main" val="2374406254"/>
                    </a:ext>
                  </a:extLst>
                </a:gridCol>
              </a:tblGrid>
              <a:tr h="726369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Data Inspection</a:t>
                      </a:r>
                      <a:endParaRPr lang="en-IN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2965" marR="25820" marT="17990" marB="134923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cap="none" spc="0" dirty="0">
                          <a:solidFill>
                            <a:schemeClr val="tx1"/>
                          </a:solidFill>
                        </a:rPr>
                        <a:t>Checked columns, data types, statistical information, missing values, and target distribution.</a:t>
                      </a:r>
                    </a:p>
                  </a:txBody>
                  <a:tcPr marL="62965" marR="25820" marT="17990" marB="13492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561270"/>
                  </a:ext>
                </a:extLst>
              </a:tr>
              <a:tr h="726369">
                <a:tc>
                  <a:txBody>
                    <a:bodyPr/>
                    <a:lstStyle/>
                    <a:p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Cleaning</a:t>
                      </a:r>
                    </a:p>
                  </a:txBody>
                  <a:tcPr marL="62965" marR="25820" marT="17990" marB="134923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Handled duplicates, missing/invalid observations(by Simple Imputer) and removed highly correlated features also prepared the modeling dataset.</a:t>
                      </a:r>
                    </a:p>
                  </a:txBody>
                  <a:tcPr marL="62965" marR="25820" marT="17990" marB="13492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196724"/>
                  </a:ext>
                </a:extLst>
              </a:tr>
              <a:tr h="726369">
                <a:tc>
                  <a:txBody>
                    <a:bodyPr/>
                    <a:lstStyle/>
                    <a:p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Outlier analysis</a:t>
                      </a:r>
                    </a:p>
                  </a:txBody>
                  <a:tcPr marL="62965" marR="25820" marT="17990" marB="134923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Investigated extreme astronomical values; treatment was based on feature behaviour rather than blindly removing extremes using IQR method.</a:t>
                      </a:r>
                    </a:p>
                  </a:txBody>
                  <a:tcPr marL="62965" marR="25820" marT="17990" marB="13492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179833"/>
                  </a:ext>
                </a:extLst>
              </a:tr>
              <a:tr h="726369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Encoding</a:t>
                      </a:r>
                      <a:endParaRPr lang="en-IN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2965" marR="25820" marT="17990" marB="134923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Both Features and Target Columns are encoded using Label Encoding  to train the model easily.</a:t>
                      </a:r>
                      <a:endParaRPr lang="en-IN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2965" marR="25820" marT="17990" marB="13492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833692"/>
                  </a:ext>
                </a:extLst>
              </a:tr>
              <a:tr h="726369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Create Binary Target</a:t>
                      </a:r>
                      <a:endParaRPr lang="en-IN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2965" marR="25820" marT="17990" marB="134923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The target column converted into binary as ‘planet Candidate’ and ‘False-Signal’ side to make the problem as binary classification.</a:t>
                      </a:r>
                    </a:p>
                  </a:txBody>
                  <a:tcPr marL="62965" marR="25820" marT="17990" marB="13492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9750395"/>
                  </a:ext>
                </a:extLst>
              </a:tr>
              <a:tr h="457562">
                <a:tc>
                  <a:txBody>
                    <a:bodyPr/>
                    <a:lstStyle/>
                    <a:p>
                      <a:r>
                        <a:rPr lang="en-IN" sz="1900" cap="none" spc="0">
                          <a:solidFill>
                            <a:schemeClr val="tx1"/>
                          </a:solidFill>
                        </a:rPr>
                        <a:t>Preparation</a:t>
                      </a:r>
                    </a:p>
                  </a:txBody>
                  <a:tcPr marL="62965" marR="25820" marT="17990" marB="134923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cap="none" spc="0" dirty="0">
                          <a:solidFill>
                            <a:schemeClr val="tx1"/>
                          </a:solidFill>
                        </a:rPr>
                        <a:t>Prepared consistent features and labels for model training including feature scaling.</a:t>
                      </a:r>
                      <a:endParaRPr lang="en-US" sz="19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2965" marR="25820" marT="17990" marB="13492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944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1931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32A21FE-C56B-42B6-82D1-D3F0C4A47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4BE011A-C166-4E7B-A300-186767380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1261A9AF-2897-4CFD-9D9D-17105C8A2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F5B3D4-365E-4889-A4DF-C19ED423F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07" y="573160"/>
            <a:ext cx="2951168" cy="27568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Exploratory Data Analysis (EDA)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55E56EF-ADF6-479C-99B3-ADDDE6959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83596" y="3602565"/>
            <a:ext cx="2469272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748224-FCF5-6F38-1E85-D9004AFD1DD7}"/>
              </a:ext>
            </a:extLst>
          </p:cNvPr>
          <p:cNvSpPr txBox="1"/>
          <p:nvPr/>
        </p:nvSpPr>
        <p:spPr>
          <a:xfrm>
            <a:off x="662307" y="3849625"/>
            <a:ext cx="3090411" cy="22872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r">
              <a:lnSpc>
                <a:spcPct val="100000"/>
              </a:lnSpc>
              <a:spcBef>
                <a:spcPts val="1000"/>
              </a:spcBef>
            </a:pPr>
            <a:r>
              <a:rPr lang="en-IN" dirty="0">
                <a:solidFill>
                  <a:schemeClr val="bg1"/>
                </a:solidFill>
              </a:rPr>
              <a:t>Used distributions, class analysis and relationships between important variables to understand the data.</a:t>
            </a:r>
          </a:p>
          <a:p>
            <a:pPr algn="r">
              <a:lnSpc>
                <a:spcPct val="100000"/>
              </a:lnSpc>
              <a:spcBef>
                <a:spcPts val="1000"/>
              </a:spcBef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EDA results guide subsequent feature selection, preprocessing, and model development.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F6D23F-3D8D-555E-95C0-7DB84946F8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" b="1863"/>
          <a:stretch>
            <a:fillRect/>
          </a:stretch>
        </p:blipFill>
        <p:spPr>
          <a:xfrm>
            <a:off x="4032902" y="3618109"/>
            <a:ext cx="4083839" cy="34468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C4B14B-5D03-EDCB-B7DB-524CD8643A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78" r="3" b="3"/>
          <a:stretch>
            <a:fillRect/>
          </a:stretch>
        </p:blipFill>
        <p:spPr>
          <a:xfrm>
            <a:off x="4054080" y="179985"/>
            <a:ext cx="4083839" cy="34381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7AC694-74DC-EB4B-7048-4AB1752833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0911" b="-3"/>
          <a:stretch>
            <a:fillRect/>
          </a:stretch>
        </p:blipFill>
        <p:spPr>
          <a:xfrm>
            <a:off x="7865281" y="3543246"/>
            <a:ext cx="4083837" cy="34468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5ED1E3-A62B-02F4-9AD1-77791B5CF2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323" r="4" b="1552"/>
          <a:stretch>
            <a:fillRect/>
          </a:stretch>
        </p:blipFill>
        <p:spPr>
          <a:xfrm>
            <a:off x="8116741" y="1658"/>
            <a:ext cx="4083839" cy="343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97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784A9-BB58-5186-CD49-7134F6F13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07" y="1109075"/>
            <a:ext cx="3201366" cy="14723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Feature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F057FA-EA4B-D6D7-421A-35890A1F7A03}"/>
              </a:ext>
            </a:extLst>
          </p:cNvPr>
          <p:cNvSpPr txBox="1"/>
          <p:nvPr/>
        </p:nvSpPr>
        <p:spPr>
          <a:xfrm>
            <a:off x="950026" y="3317627"/>
            <a:ext cx="295094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N" sz="2200" dirty="0">
                <a:solidFill>
                  <a:schemeClr val="bg1">
                    <a:lumMod val="95000"/>
                  </a:schemeClr>
                </a:solidFill>
              </a:rPr>
              <a:t>The engineered variables were created to provide the algorithms with additional domain-informed signals beyond the raw measurements.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EB9BF9-F4A5-3806-D366-D38D6AD2F8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5939151"/>
              </p:ext>
            </p:extLst>
          </p:nvPr>
        </p:nvGraphicFramePr>
        <p:xfrm>
          <a:off x="4581727" y="649480"/>
          <a:ext cx="6660247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8198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50F87-8F9C-F1E4-E801-8C193AA69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30" y="243205"/>
            <a:ext cx="5760720" cy="915035"/>
          </a:xfrm>
        </p:spPr>
        <p:txBody>
          <a:bodyPr/>
          <a:lstStyle/>
          <a:p>
            <a:r>
              <a:rPr lang="en-IN" dirty="0"/>
              <a:t>Classification Strategy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1F0C24-860B-61F6-1F76-FBA0BCB7981F}"/>
              </a:ext>
            </a:extLst>
          </p:cNvPr>
          <p:cNvSpPr txBox="1"/>
          <p:nvPr/>
        </p:nvSpPr>
        <p:spPr>
          <a:xfrm>
            <a:off x="685800" y="5821680"/>
            <a:ext cx="1059561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dirty="0"/>
              <a:t>Train/test split: 80% training • 20% testing • </a:t>
            </a:r>
            <a:r>
              <a:rPr lang="en-IN" sz="2300" dirty="0" err="1"/>
              <a:t>random_state</a:t>
            </a:r>
            <a:r>
              <a:rPr lang="en-IN" sz="2300" dirty="0"/>
              <a:t> = 42 • stratified by target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070D932-8D2A-1C6E-634F-5738AC52A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091076"/>
              </p:ext>
            </p:extLst>
          </p:nvPr>
        </p:nvGraphicFramePr>
        <p:xfrm>
          <a:off x="685800" y="1280160"/>
          <a:ext cx="1018032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0160">
                  <a:extLst>
                    <a:ext uri="{9D8B030D-6E8A-4147-A177-3AD203B41FA5}">
                      <a16:colId xmlns:a16="http://schemas.microsoft.com/office/drawing/2014/main" val="2758340525"/>
                    </a:ext>
                  </a:extLst>
                </a:gridCol>
                <a:gridCol w="5090160">
                  <a:extLst>
                    <a:ext uri="{9D8B030D-6E8A-4147-A177-3AD203B41FA5}">
                      <a16:colId xmlns:a16="http://schemas.microsoft.com/office/drawing/2014/main" val="2872838534"/>
                    </a:ext>
                  </a:extLst>
                </a:gridCol>
              </a:tblGrid>
              <a:tr h="6617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Binary classification </a:t>
                      </a: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Multiclass classification </a:t>
                      </a:r>
                    </a:p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833644"/>
                  </a:ext>
                </a:extLst>
              </a:tr>
              <a:tr h="6617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Planet-related observations - 1 </a:t>
                      </a:r>
                    </a:p>
                    <a:p>
                      <a:pPr>
                        <a:buFontTx/>
                        <a:buNone/>
                      </a:pP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Classes: PC, FP, CP, KP, APC and FA </a:t>
                      </a:r>
                    </a:p>
                    <a:p>
                      <a:pPr>
                        <a:buFontTx/>
                        <a:buNone/>
                      </a:pP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298976"/>
                  </a:ext>
                </a:extLst>
              </a:tr>
              <a:tr h="9494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False alarm / false positive observations - 0 </a:t>
                      </a:r>
                    </a:p>
                    <a:p>
                      <a:pPr>
                        <a:buFontTx/>
                        <a:buNone/>
                      </a:pP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Used class-aware </a:t>
                      </a:r>
                      <a:r>
                        <a:rPr lang="en-IN" sz="2000" dirty="0" err="1"/>
                        <a:t>modeling</a:t>
                      </a:r>
                      <a:r>
                        <a:rPr lang="en-IN" sz="2000" dirty="0"/>
                        <a:t> to address class imbalance.</a:t>
                      </a:r>
                    </a:p>
                    <a:p>
                      <a:pPr>
                        <a:buFontTx/>
                        <a:buNone/>
                      </a:pP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401599"/>
                  </a:ext>
                </a:extLst>
              </a:tr>
              <a:tr h="9494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Used stratified train/test splitting. </a:t>
                      </a:r>
                    </a:p>
                    <a:p>
                      <a:pPr>
                        <a:buFontTx/>
                        <a:buNone/>
                      </a:pP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Evaluated with macro Precision, Recall and F1-score.</a:t>
                      </a:r>
                    </a:p>
                    <a:p>
                      <a:pPr>
                        <a:buFontTx/>
                        <a:buNone/>
                      </a:pP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866826"/>
                  </a:ext>
                </a:extLst>
              </a:tr>
              <a:tr h="9494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Compared five classification algorithms.</a:t>
                      </a:r>
                    </a:p>
                    <a:p>
                      <a:pPr>
                        <a:buFontTx/>
                        <a:buNone/>
                      </a:pP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Confusion matrix used to inspect class-level performance.</a:t>
                      </a:r>
                    </a:p>
                    <a:p>
                      <a:pPr>
                        <a:buFontTx/>
                        <a:buNone/>
                      </a:pP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582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1660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02355-1163-EF31-1EA3-806210969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823912"/>
          </a:xfrm>
        </p:spPr>
        <p:txBody>
          <a:bodyPr/>
          <a:lstStyle/>
          <a:p>
            <a:r>
              <a:rPr lang="en-IN" dirty="0"/>
              <a:t>Models &amp; Hyperparameter Tuning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3376A1E-3DB0-A196-611D-372E00EC0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138421"/>
              </p:ext>
            </p:extLst>
          </p:nvPr>
        </p:nvGraphicFramePr>
        <p:xfrm>
          <a:off x="642462" y="1357839"/>
          <a:ext cx="10376058" cy="2687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8029">
                  <a:extLst>
                    <a:ext uri="{9D8B030D-6E8A-4147-A177-3AD203B41FA5}">
                      <a16:colId xmlns:a16="http://schemas.microsoft.com/office/drawing/2014/main" val="327086201"/>
                    </a:ext>
                  </a:extLst>
                </a:gridCol>
                <a:gridCol w="5188029">
                  <a:extLst>
                    <a:ext uri="{9D8B030D-6E8A-4147-A177-3AD203B41FA5}">
                      <a16:colId xmlns:a16="http://schemas.microsoft.com/office/drawing/2014/main" val="739540055"/>
                    </a:ext>
                  </a:extLst>
                </a:gridCol>
              </a:tblGrid>
              <a:tr h="408346">
                <a:tc>
                  <a:txBody>
                    <a:bodyPr/>
                    <a:lstStyle/>
                    <a:p>
                      <a:r>
                        <a:rPr lang="en-IN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 in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873111"/>
                  </a:ext>
                </a:extLst>
              </a:tr>
              <a:tr h="408346">
                <a:tc>
                  <a:txBody>
                    <a:bodyPr/>
                    <a:lstStyle/>
                    <a:p>
                      <a:r>
                        <a:rPr lang="en-IN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Linear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538947"/>
                  </a:ext>
                </a:extLst>
              </a:tr>
              <a:tr h="513704">
                <a:tc>
                  <a:txBody>
                    <a:bodyPr/>
                    <a:lstStyle/>
                    <a:p>
                      <a:r>
                        <a:rPr lang="en-IN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Tree-based nonlinear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058253"/>
                  </a:ext>
                </a:extLst>
              </a:tr>
              <a:tr h="513704">
                <a:tc>
                  <a:txBody>
                    <a:bodyPr/>
                    <a:lstStyle/>
                    <a:p>
                      <a:r>
                        <a:rPr lang="en-IN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Ensemble of decision trees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154625"/>
                  </a:ext>
                </a:extLst>
              </a:tr>
              <a:tr h="434577">
                <a:tc>
                  <a:txBody>
                    <a:bodyPr/>
                    <a:lstStyle/>
                    <a:p>
                      <a:r>
                        <a:rPr lang="en-IN" dirty="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Distance-based classifier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400993"/>
                  </a:ext>
                </a:extLst>
              </a:tr>
              <a:tr h="408346">
                <a:tc>
                  <a:txBody>
                    <a:bodyPr/>
                    <a:lstStyle/>
                    <a:p>
                      <a:r>
                        <a:rPr lang="en-IN" dirty="0"/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Margin-based classifier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02570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9ED4EE4-4683-4418-A06A-FE72F50DB820}"/>
              </a:ext>
            </a:extLst>
          </p:cNvPr>
          <p:cNvSpPr txBox="1"/>
          <p:nvPr/>
        </p:nvSpPr>
        <p:spPr>
          <a:xfrm>
            <a:off x="445136" y="4542859"/>
            <a:ext cx="1037605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00" b="1" dirty="0"/>
              <a:t>Tuning approach: </a:t>
            </a:r>
            <a:r>
              <a:rPr lang="en-IN" sz="1900" dirty="0" err="1"/>
              <a:t>GridSearchCV</a:t>
            </a:r>
            <a:r>
              <a:rPr lang="en-IN" sz="1900" dirty="0"/>
              <a:t> with 5-fold cross-validation was used for the candidate models. The binary tuning objective used F1-score, balancing precision and recall.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C47444-F3D3-CA45-7A77-D1CCA63D80F4}"/>
              </a:ext>
            </a:extLst>
          </p:cNvPr>
          <p:cNvSpPr txBox="1"/>
          <p:nvPr/>
        </p:nvSpPr>
        <p:spPr>
          <a:xfrm>
            <a:off x="445136" y="5364021"/>
            <a:ext cx="1001331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00" b="1" dirty="0"/>
              <a:t>Model selection: </a:t>
            </a:r>
            <a:r>
              <a:rPr lang="en-IN" sz="1900" dirty="0"/>
              <a:t>Random Forest produced the strongest F1-score among the compared models and was selected for the final binary and multiclass </a:t>
            </a:r>
            <a:r>
              <a:rPr lang="en-IN" sz="1900" dirty="0" err="1"/>
              <a:t>modeling</a:t>
            </a:r>
            <a:r>
              <a:rPr lang="en-IN" sz="1900" dirty="0"/>
              <a:t> workflow.</a:t>
            </a:r>
          </a:p>
        </p:txBody>
      </p:sp>
    </p:spTree>
    <p:extLst>
      <p:ext uri="{BB962C8B-B14F-4D97-AF65-F5344CB8AC3E}">
        <p14:creationId xmlns:p14="http://schemas.microsoft.com/office/powerpoint/2010/main" val="3158167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A86598-DA2C-41D5-BC0C-E877F881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6E647F-627D-EFF6-69F5-108D9F13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7" y="637763"/>
            <a:ext cx="4310698" cy="162727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Binary Classification - Result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556" y="2372156"/>
            <a:ext cx="4572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31CA9B-E7FB-67AE-2062-92BB6691D210}"/>
              </a:ext>
            </a:extLst>
          </p:cNvPr>
          <p:cNvSpPr txBox="1"/>
          <p:nvPr/>
        </p:nvSpPr>
        <p:spPr>
          <a:xfrm>
            <a:off x="1155556" y="2581065"/>
            <a:ext cx="4284416" cy="36334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Random Forest test-set performance 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The final binary model achieved an F1-score of 0.9179. Recall was particularly high, meaning the model identified a large proportion of the positive class in the evaluated test set.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F16C5A-0D41-47A9-B0A2-9C2AD7A8C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839181-CC08-E785-44CA-46456DCF2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658922"/>
              </p:ext>
            </p:extLst>
          </p:nvPr>
        </p:nvGraphicFramePr>
        <p:xfrm>
          <a:off x="6315069" y="891540"/>
          <a:ext cx="5657851" cy="449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8234">
                  <a:extLst>
                    <a:ext uri="{9D8B030D-6E8A-4147-A177-3AD203B41FA5}">
                      <a16:colId xmlns:a16="http://schemas.microsoft.com/office/drawing/2014/main" val="3240876265"/>
                    </a:ext>
                  </a:extLst>
                </a:gridCol>
                <a:gridCol w="1169981">
                  <a:extLst>
                    <a:ext uri="{9D8B030D-6E8A-4147-A177-3AD203B41FA5}">
                      <a16:colId xmlns:a16="http://schemas.microsoft.com/office/drawing/2014/main" val="2802525213"/>
                    </a:ext>
                  </a:extLst>
                </a:gridCol>
                <a:gridCol w="1169981">
                  <a:extLst>
                    <a:ext uri="{9D8B030D-6E8A-4147-A177-3AD203B41FA5}">
                      <a16:colId xmlns:a16="http://schemas.microsoft.com/office/drawing/2014/main" val="3865987761"/>
                    </a:ext>
                  </a:extLst>
                </a:gridCol>
                <a:gridCol w="1169981">
                  <a:extLst>
                    <a:ext uri="{9D8B030D-6E8A-4147-A177-3AD203B41FA5}">
                      <a16:colId xmlns:a16="http://schemas.microsoft.com/office/drawing/2014/main" val="2962836377"/>
                    </a:ext>
                  </a:extLst>
                </a:gridCol>
                <a:gridCol w="1019674">
                  <a:extLst>
                    <a:ext uri="{9D8B030D-6E8A-4147-A177-3AD203B41FA5}">
                      <a16:colId xmlns:a16="http://schemas.microsoft.com/office/drawing/2014/main" val="1620768273"/>
                    </a:ext>
                  </a:extLst>
                </a:gridCol>
              </a:tblGrid>
              <a:tr h="732028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600">
                          <a:effectLst/>
                        </a:rPr>
                        <a:t>Model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600">
                          <a:effectLst/>
                        </a:rPr>
                        <a:t>Accuracy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600">
                          <a:effectLst/>
                        </a:rPr>
                        <a:t>Precision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600">
                          <a:effectLst/>
                        </a:rPr>
                        <a:t>Recall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600">
                          <a:effectLst/>
                        </a:rPr>
                        <a:t>F1 Score</a:t>
                      </a:r>
                    </a:p>
                  </a:txBody>
                  <a:tcPr marL="56389" marR="56389" marT="28194" marB="28194"/>
                </a:tc>
                <a:extLst>
                  <a:ext uri="{0D108BD9-81ED-4DB2-BD59-A6C34878D82A}">
                    <a16:rowId xmlns:a16="http://schemas.microsoft.com/office/drawing/2014/main" val="1372711204"/>
                  </a:ext>
                </a:extLst>
              </a:tr>
              <a:tr h="71539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Random Forest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0.858170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0.873290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0.967305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0.917896</a:t>
                      </a:r>
                    </a:p>
                  </a:txBody>
                  <a:tcPr marL="56389" marR="56389" marT="28194" marB="28194"/>
                </a:tc>
                <a:extLst>
                  <a:ext uri="{0D108BD9-81ED-4DB2-BD59-A6C34878D82A}">
                    <a16:rowId xmlns:a16="http://schemas.microsoft.com/office/drawing/2014/main" val="1152991601"/>
                  </a:ext>
                </a:extLst>
              </a:tr>
              <a:tr h="73202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SVM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0.847059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0.854167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0.980861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0.913140</a:t>
                      </a:r>
                    </a:p>
                  </a:txBody>
                  <a:tcPr marL="56389" marR="56389" marT="28194" marB="28194"/>
                </a:tc>
                <a:extLst>
                  <a:ext uri="{0D108BD9-81ED-4DB2-BD59-A6C34878D82A}">
                    <a16:rowId xmlns:a16="http://schemas.microsoft.com/office/drawing/2014/main" val="384166885"/>
                  </a:ext>
                </a:extLst>
              </a:tr>
              <a:tr h="73202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KNN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0.837255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0.855626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0.964115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0.906637</a:t>
                      </a:r>
                    </a:p>
                  </a:txBody>
                  <a:tcPr marL="56389" marR="56389" marT="28194" marB="28194"/>
                </a:tc>
                <a:extLst>
                  <a:ext uri="{0D108BD9-81ED-4DB2-BD59-A6C34878D82A}">
                    <a16:rowId xmlns:a16="http://schemas.microsoft.com/office/drawing/2014/main" val="812063699"/>
                  </a:ext>
                </a:extLst>
              </a:tr>
              <a:tr h="881761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Logistic Regression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0.835294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0.846953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0.975279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0.906597</a:t>
                      </a:r>
                    </a:p>
                  </a:txBody>
                  <a:tcPr marL="56389" marR="56389" marT="28194" marB="28194"/>
                </a:tc>
                <a:extLst>
                  <a:ext uri="{0D108BD9-81ED-4DB2-BD59-A6C34878D82A}">
                    <a16:rowId xmlns:a16="http://schemas.microsoft.com/office/drawing/2014/main" val="3819645634"/>
                  </a:ext>
                </a:extLst>
              </a:tr>
              <a:tr h="69875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 dirty="0">
                          <a:effectLst/>
                        </a:rPr>
                        <a:t>Decision Tree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0.798693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0.873618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0.881978</a:t>
                      </a:r>
                    </a:p>
                  </a:txBody>
                  <a:tcPr marL="56389" marR="56389" marT="28194" marB="281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 dirty="0">
                          <a:effectLst/>
                        </a:rPr>
                        <a:t>0.877778</a:t>
                      </a:r>
                    </a:p>
                  </a:txBody>
                  <a:tcPr marL="56389" marR="56389" marT="28194" marB="28194"/>
                </a:tc>
                <a:extLst>
                  <a:ext uri="{0D108BD9-81ED-4DB2-BD59-A6C34878D82A}">
                    <a16:rowId xmlns:a16="http://schemas.microsoft.com/office/drawing/2014/main" val="3779223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036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EA86598-DA2C-41D5-BC0C-E877F881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6534EF-AF5B-5690-9466-39C2A13F6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27" y="663288"/>
            <a:ext cx="5024272" cy="162727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Multiclass Classification - Result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556" y="2372156"/>
            <a:ext cx="4572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9B517F-BDDD-4C06-16CB-A0D73A51952C}"/>
              </a:ext>
            </a:extLst>
          </p:cNvPr>
          <p:cNvSpPr txBox="1"/>
          <p:nvPr/>
        </p:nvSpPr>
        <p:spPr>
          <a:xfrm>
            <a:off x="801226" y="2561245"/>
            <a:ext cx="4936634" cy="31880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71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Classes modeled: </a:t>
            </a:r>
            <a:r>
              <a:rPr lang="en-US" dirty="0">
                <a:solidFill>
                  <a:schemeClr val="bg1"/>
                </a:solidFill>
              </a:rPr>
              <a:t>PC • FP • CP • KP • APC • FA</a:t>
            </a:r>
          </a:p>
          <a:p>
            <a:pPr marL="571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Class imbalance: </a:t>
            </a:r>
            <a:r>
              <a:rPr lang="en-US" dirty="0">
                <a:solidFill>
                  <a:schemeClr val="bg1"/>
                </a:solidFill>
              </a:rPr>
              <a:t>Used class-aware Random Forest modeling so minority classes receive appropriate attention during training.</a:t>
            </a:r>
          </a:p>
          <a:p>
            <a:pPr marL="571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Evaluation: </a:t>
            </a:r>
            <a:r>
              <a:rPr lang="en-US" dirty="0">
                <a:solidFill>
                  <a:schemeClr val="bg1"/>
                </a:solidFill>
              </a:rPr>
              <a:t>Macro Precision, Macro Recall and Macro F1-score provide equal importance to each class.</a:t>
            </a:r>
          </a:p>
          <a:p>
            <a:pPr marL="571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Error analysis: </a:t>
            </a:r>
            <a:r>
              <a:rPr lang="en-US" dirty="0">
                <a:solidFill>
                  <a:schemeClr val="bg1"/>
                </a:solidFill>
              </a:rPr>
              <a:t>Confusion matrix helps identify which astronomical classes are most frequently confused.</a:t>
            </a:r>
          </a:p>
          <a:p>
            <a:pPr marL="571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Final model: </a:t>
            </a:r>
            <a:r>
              <a:rPr lang="en-US" dirty="0">
                <a:solidFill>
                  <a:schemeClr val="bg1"/>
                </a:solidFill>
              </a:rPr>
              <a:t>Random Forest was retained as the selected model for the multiclass workflow.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F16C5A-0D41-47A9-B0A2-9C2AD7A8C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50F35-EACB-A586-F660-CA5C8AA1F7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756886"/>
              </p:ext>
            </p:extLst>
          </p:nvPr>
        </p:nvGraphicFramePr>
        <p:xfrm>
          <a:off x="6454140" y="1474471"/>
          <a:ext cx="5467349" cy="41490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357">
                  <a:extLst>
                    <a:ext uri="{9D8B030D-6E8A-4147-A177-3AD203B41FA5}">
                      <a16:colId xmlns:a16="http://schemas.microsoft.com/office/drawing/2014/main" val="3401686298"/>
                    </a:ext>
                  </a:extLst>
                </a:gridCol>
                <a:gridCol w="1059498">
                  <a:extLst>
                    <a:ext uri="{9D8B030D-6E8A-4147-A177-3AD203B41FA5}">
                      <a16:colId xmlns:a16="http://schemas.microsoft.com/office/drawing/2014/main" val="3241625840"/>
                    </a:ext>
                  </a:extLst>
                </a:gridCol>
                <a:gridCol w="1059498">
                  <a:extLst>
                    <a:ext uri="{9D8B030D-6E8A-4147-A177-3AD203B41FA5}">
                      <a16:colId xmlns:a16="http://schemas.microsoft.com/office/drawing/2014/main" val="3495630462"/>
                    </a:ext>
                  </a:extLst>
                </a:gridCol>
                <a:gridCol w="1059498">
                  <a:extLst>
                    <a:ext uri="{9D8B030D-6E8A-4147-A177-3AD203B41FA5}">
                      <a16:colId xmlns:a16="http://schemas.microsoft.com/office/drawing/2014/main" val="3617059812"/>
                    </a:ext>
                  </a:extLst>
                </a:gridCol>
                <a:gridCol w="1059498">
                  <a:extLst>
                    <a:ext uri="{9D8B030D-6E8A-4147-A177-3AD203B41FA5}">
                      <a16:colId xmlns:a16="http://schemas.microsoft.com/office/drawing/2014/main" val="3537709594"/>
                    </a:ext>
                  </a:extLst>
                </a:gridCol>
              </a:tblGrid>
              <a:tr h="552406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600">
                          <a:effectLst/>
                        </a:rPr>
                        <a:t>Model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600">
                          <a:effectLst/>
                        </a:rPr>
                        <a:t>Accuracy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600">
                          <a:effectLst/>
                        </a:rPr>
                        <a:t>Precision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600">
                          <a:effectLst/>
                        </a:rPr>
                        <a:t>Recall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N" sz="1600">
                          <a:effectLst/>
                        </a:rPr>
                        <a:t>F1 Score</a:t>
                      </a:r>
                    </a:p>
                  </a:txBody>
                  <a:tcPr marL="60199" marR="60199" marT="30099" marB="30099"/>
                </a:tc>
                <a:extLst>
                  <a:ext uri="{0D108BD9-81ED-4DB2-BD59-A6C34878D82A}">
                    <a16:rowId xmlns:a16="http://schemas.microsoft.com/office/drawing/2014/main" val="678177616"/>
                  </a:ext>
                </a:extLst>
              </a:tr>
              <a:tr h="92904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Logistic Regression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0.486928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0.360304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0.453465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0.351211</a:t>
                      </a:r>
                    </a:p>
                  </a:txBody>
                  <a:tcPr marL="60199" marR="60199" marT="30099" marB="30099"/>
                </a:tc>
                <a:extLst>
                  <a:ext uri="{0D108BD9-81ED-4DB2-BD59-A6C34878D82A}">
                    <a16:rowId xmlns:a16="http://schemas.microsoft.com/office/drawing/2014/main" val="2758412358"/>
                  </a:ext>
                </a:extLst>
              </a:tr>
              <a:tr h="63377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Decision Tree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0.637908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0.447799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0.460065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0.452707</a:t>
                      </a:r>
                    </a:p>
                  </a:txBody>
                  <a:tcPr marL="60199" marR="60199" marT="30099" marB="30099"/>
                </a:tc>
                <a:extLst>
                  <a:ext uri="{0D108BD9-81ED-4DB2-BD59-A6C34878D82A}">
                    <a16:rowId xmlns:a16="http://schemas.microsoft.com/office/drawing/2014/main" val="3441708753"/>
                  </a:ext>
                </a:extLst>
              </a:tr>
              <a:tr h="92904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Random Forest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0.701961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0.540989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0.554168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0.538426</a:t>
                      </a:r>
                    </a:p>
                  </a:txBody>
                  <a:tcPr marL="60199" marR="60199" marT="30099" marB="30099"/>
                </a:tc>
                <a:extLst>
                  <a:ext uri="{0D108BD9-81ED-4DB2-BD59-A6C34878D82A}">
                    <a16:rowId xmlns:a16="http://schemas.microsoft.com/office/drawing/2014/main" val="1912941205"/>
                  </a:ext>
                </a:extLst>
              </a:tr>
              <a:tr h="55240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KNN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0.679085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0.472881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0.386899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0.416049</a:t>
                      </a:r>
                    </a:p>
                  </a:txBody>
                  <a:tcPr marL="60199" marR="60199" marT="30099" marB="30099"/>
                </a:tc>
                <a:extLst>
                  <a:ext uri="{0D108BD9-81ED-4DB2-BD59-A6C34878D82A}">
                    <a16:rowId xmlns:a16="http://schemas.microsoft.com/office/drawing/2014/main" val="1195534268"/>
                  </a:ext>
                </a:extLst>
              </a:tr>
              <a:tr h="55240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SVM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0.571895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0.430765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>
                          <a:effectLst/>
                        </a:rPr>
                        <a:t>0.590714</a:t>
                      </a:r>
                    </a:p>
                  </a:txBody>
                  <a:tcPr marL="60199" marR="60199" marT="30099" marB="30099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600" dirty="0">
                          <a:effectLst/>
                        </a:rPr>
                        <a:t>0.448049</a:t>
                      </a:r>
                    </a:p>
                  </a:txBody>
                  <a:tcPr marL="60199" marR="60199" marT="30099" marB="30099"/>
                </a:tc>
                <a:extLst>
                  <a:ext uri="{0D108BD9-81ED-4DB2-BD59-A6C34878D82A}">
                    <a16:rowId xmlns:a16="http://schemas.microsoft.com/office/drawing/2014/main" val="2915221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1024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EB619-43F1-1764-E415-FBED81F92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8340"/>
            <a:ext cx="10515600" cy="857885"/>
          </a:xfrm>
        </p:spPr>
        <p:txBody>
          <a:bodyPr/>
          <a:lstStyle/>
          <a:p>
            <a:r>
              <a:rPr lang="en-IN" dirty="0"/>
              <a:t>Deployment - Flask Web Application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713993-2CAB-E761-7253-5755E24298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6629708"/>
              </p:ext>
            </p:extLst>
          </p:nvPr>
        </p:nvGraphicFramePr>
        <p:xfrm>
          <a:off x="867728" y="1223010"/>
          <a:ext cx="10826115" cy="2127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2B2AEB3-5E3B-BA42-D419-F27D67BEAED2}"/>
              </a:ext>
            </a:extLst>
          </p:cNvPr>
          <p:cNvSpPr txBox="1"/>
          <p:nvPr/>
        </p:nvSpPr>
        <p:spPr>
          <a:xfrm>
            <a:off x="918210" y="3350356"/>
            <a:ext cx="57264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Project structure: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app.py </a:t>
            </a:r>
            <a:r>
              <a:rPr lang="en-IN" sz="2000" dirty="0"/>
              <a:t>handles the Flask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 err="1"/>
              <a:t>src</a:t>
            </a:r>
            <a:r>
              <a:rPr lang="en-IN" sz="2000" b="1" dirty="0"/>
              <a:t>/ </a:t>
            </a:r>
            <a:r>
              <a:rPr lang="en-IN" sz="2000" dirty="0"/>
              <a:t>contains configuration and prediction logic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templates/ </a:t>
            </a:r>
            <a:r>
              <a:rPr lang="en-IN" sz="2000" dirty="0"/>
              <a:t>contains the HTML interface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static/ </a:t>
            </a:r>
            <a:r>
              <a:rPr lang="en-IN" sz="2000" dirty="0"/>
              <a:t>contains styling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models/ </a:t>
            </a:r>
            <a:r>
              <a:rPr lang="en-IN" sz="2000" dirty="0"/>
              <a:t>stores the trained models.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7DE017-886A-B6AB-1249-B97D441FE5E4}"/>
              </a:ext>
            </a:extLst>
          </p:cNvPr>
          <p:cNvSpPr txBox="1"/>
          <p:nvPr/>
        </p:nvSpPr>
        <p:spPr>
          <a:xfrm>
            <a:off x="918210" y="5640804"/>
            <a:ext cx="99745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The deployment demonstrates how a trained ML model can be packaged into a simple user-facing prediction application.</a:t>
            </a:r>
          </a:p>
        </p:txBody>
      </p:sp>
    </p:spTree>
    <p:extLst>
      <p:ext uri="{BB962C8B-B14F-4D97-AF65-F5344CB8AC3E}">
        <p14:creationId xmlns:p14="http://schemas.microsoft.com/office/powerpoint/2010/main" val="3322635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C6B5652-C661-4C58-B937-F0F490F7F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B936867-6407-43FB-9DE6-1B0879D0C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CD0B258-678B-4A8C-894F-848AF24A1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D58395-74AF-401A-AF2F-76B6FCF71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F003F3F-F118-41D2-AA3F-74DB0D197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7164B-E6EE-7ABD-1028-4CE4EDC7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5" y="457201"/>
            <a:ext cx="2844800" cy="35888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D48B74-5625-4009-9BE8-AE046C08DAEF}"/>
              </a:ext>
            </a:extLst>
          </p:cNvPr>
          <p:cNvSpPr txBox="1"/>
          <p:nvPr/>
        </p:nvSpPr>
        <p:spPr>
          <a:xfrm>
            <a:off x="4037824" y="-1257299"/>
            <a:ext cx="4430023" cy="89382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 </a:t>
            </a:r>
            <a:r>
              <a:rPr lang="en-US" b="1" dirty="0"/>
              <a:t>Key outcome: </a:t>
            </a:r>
            <a:r>
              <a:rPr lang="en-US" dirty="0"/>
              <a:t>Built an end-to-end exoplanet classification pipeline from astronomical data     preparation to model deployment.</a:t>
            </a: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Modeling: </a:t>
            </a:r>
            <a:r>
              <a:rPr lang="en-US" dirty="0"/>
              <a:t>Compared multiple algorithms and selected Random Forest based on the project evaluation results.</a:t>
            </a: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Two prediction tasks: </a:t>
            </a:r>
            <a:r>
              <a:rPr lang="en-US" dirty="0"/>
              <a:t>Binary classification provides a broad decision, while multiclass classification provides more detailed categories.</a:t>
            </a:r>
          </a:p>
          <a:p>
            <a:pPr marL="3429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Deployment: </a:t>
            </a:r>
            <a:r>
              <a:rPr lang="en-US" dirty="0"/>
              <a:t>Integrated the selected models into a Flask application for interactive predictions.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EC41B69-8B92-9CEE-890D-9408B25691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509" r="-3" b="-3"/>
          <a:stretch>
            <a:fillRect/>
          </a:stretch>
        </p:blipFill>
        <p:spPr>
          <a:xfrm>
            <a:off x="8467859" y="754380"/>
            <a:ext cx="3290578" cy="26746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802A75-96E0-8698-7117-D13D380233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795" r="-2" b="-2"/>
          <a:stretch>
            <a:fillRect/>
          </a:stretch>
        </p:blipFill>
        <p:spPr>
          <a:xfrm>
            <a:off x="8467858" y="3923658"/>
            <a:ext cx="3290579" cy="256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759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EB83E5-A7BB-F763-1650-136251B23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32" y="1412489"/>
            <a:ext cx="3422508" cy="62205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9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Future Scope</a:t>
            </a:r>
            <a:br>
              <a:rPr lang="en-US" sz="3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3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92153-0EC4-C9EB-A32E-6B1307AE4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8760" y="459615"/>
            <a:ext cx="6871240" cy="5316717"/>
          </a:xfrm>
        </p:spPr>
        <p:txBody>
          <a:bodyPr vert="horz" lIns="91440" tIns="45720" rIns="91440" bIns="45720" rtlCol="0">
            <a:normAutofit/>
          </a:bodyPr>
          <a:lstStyle/>
          <a:p>
            <a:pPr marL="0">
              <a:lnSpc>
                <a:spcPct val="110000"/>
              </a:lnSpc>
            </a:pPr>
            <a:endParaRPr lang="en-US" sz="1100" b="1" dirty="0"/>
          </a:p>
          <a:p>
            <a:pPr>
              <a:lnSpc>
                <a:spcPct val="110000"/>
              </a:lnSpc>
            </a:pPr>
            <a:r>
              <a:rPr lang="en-US" sz="1900" b="1" dirty="0"/>
              <a:t>Deep Learning Enhancement</a:t>
            </a:r>
            <a:r>
              <a:rPr lang="en-US" sz="1900" dirty="0"/>
              <a:t> </a:t>
            </a:r>
            <a:r>
              <a:rPr lang="en-US" sz="1800" dirty="0"/>
              <a:t>– Apply advanced models such as </a:t>
            </a:r>
            <a:r>
              <a:rPr lang="en-US" sz="1800" b="1" dirty="0"/>
              <a:t>CNNs, LSTMs, and Transformers</a:t>
            </a:r>
            <a:r>
              <a:rPr lang="en-US" sz="1800" dirty="0"/>
              <a:t> to improve the detection of weak and complex exoplanet signals.</a:t>
            </a:r>
          </a:p>
          <a:p>
            <a:pPr>
              <a:lnSpc>
                <a:spcPct val="110000"/>
              </a:lnSpc>
            </a:pPr>
            <a:r>
              <a:rPr lang="en-US" sz="1900" b="1" dirty="0"/>
              <a:t>Real-Time Data Integration</a:t>
            </a:r>
            <a:r>
              <a:rPr lang="en-US" sz="1900" dirty="0"/>
              <a:t> </a:t>
            </a:r>
            <a:r>
              <a:rPr lang="en-US" sz="1800" dirty="0"/>
              <a:t>– Integrate </a:t>
            </a:r>
            <a:r>
              <a:rPr lang="en-US" sz="1800" b="1" dirty="0"/>
              <a:t>new observations from NASA missions such as TESS and JWST</a:t>
            </a:r>
            <a:r>
              <a:rPr lang="en-US" sz="1800" dirty="0"/>
              <a:t> to continuously update and improve the prediction models.</a:t>
            </a:r>
          </a:p>
          <a:p>
            <a:pPr>
              <a:lnSpc>
                <a:spcPct val="110000"/>
              </a:lnSpc>
            </a:pPr>
            <a:r>
              <a:rPr lang="en-US" sz="1900" b="1" dirty="0"/>
              <a:t>Improved Classification</a:t>
            </a:r>
            <a:r>
              <a:rPr lang="en-US" sz="1900" dirty="0"/>
              <a:t> </a:t>
            </a:r>
            <a:r>
              <a:rPr lang="en-US" sz="1800" dirty="0"/>
              <a:t>– Develop more advanced </a:t>
            </a:r>
            <a:r>
              <a:rPr lang="en-US" sz="1800" b="1" dirty="0"/>
              <a:t>multi-class and probabilistic models</a:t>
            </a:r>
            <a:r>
              <a:rPr lang="en-US" sz="1800" dirty="0"/>
              <a:t> to distinguish confirmed planets, candidates, false positives, and other astronomical objects more accurately.</a:t>
            </a:r>
          </a:p>
          <a:p>
            <a:pPr>
              <a:lnSpc>
                <a:spcPct val="110000"/>
              </a:lnSpc>
            </a:pPr>
            <a:r>
              <a:rPr lang="en-US" sz="1900" b="1" dirty="0"/>
              <a:t>Automated Astronomical Discovery</a:t>
            </a:r>
            <a:r>
              <a:rPr lang="en-US" sz="1900" dirty="0"/>
              <a:t> </a:t>
            </a:r>
            <a:r>
              <a:rPr lang="en-US" sz="1800" dirty="0"/>
              <a:t>– Build a scalable </a:t>
            </a:r>
            <a:r>
              <a:rPr lang="en-US" sz="1800" b="1" dirty="0"/>
              <a:t>AI-based detection system</a:t>
            </a:r>
            <a:r>
              <a:rPr lang="en-US" sz="1800" dirty="0"/>
              <a:t> that can assist astronomers in analyzing large volumes of space data and identifying promising exoplanet candidates faster.</a:t>
            </a:r>
          </a:p>
          <a:p>
            <a:endParaRPr lang="en-US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A8CCAC-F119-E10C-1052-16B483DFF200}"/>
              </a:ext>
            </a:extLst>
          </p:cNvPr>
          <p:cNvSpPr txBox="1"/>
          <p:nvPr/>
        </p:nvSpPr>
        <p:spPr>
          <a:xfrm>
            <a:off x="8522262" y="5776333"/>
            <a:ext cx="2907738" cy="6220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0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409367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1467</Words>
  <Application>Microsoft Office PowerPoint</Application>
  <PresentationFormat>Widescreen</PresentationFormat>
  <Paragraphs>210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Courier New</vt:lpstr>
      <vt:lpstr>Google Sans Text</vt:lpstr>
      <vt:lpstr>Wingdings</vt:lpstr>
      <vt:lpstr>Office Theme</vt:lpstr>
      <vt:lpstr>NASA Exoplanet Detection and Classification</vt:lpstr>
      <vt:lpstr>Project Overview</vt:lpstr>
      <vt:lpstr>Objectives</vt:lpstr>
      <vt:lpstr>Dataset and Selected Features</vt:lpstr>
      <vt:lpstr>Data Cleaning and Preprocessing </vt:lpstr>
      <vt:lpstr>Exploratory Data Analysis (EDA)</vt:lpstr>
      <vt:lpstr>Feature Engineering</vt:lpstr>
      <vt:lpstr>Classification Strategy</vt:lpstr>
      <vt:lpstr>Models &amp; Hyperparameter Tuning</vt:lpstr>
      <vt:lpstr>Binary Classification - Result</vt:lpstr>
      <vt:lpstr>Multiclass Classification - Result</vt:lpstr>
      <vt:lpstr>Deployment - Flask Web Application</vt:lpstr>
      <vt:lpstr>Conclusion</vt:lpstr>
      <vt:lpstr>Future Scope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sifanapv2001@gmail.com</dc:creator>
  <cp:lastModifiedBy>sifanapv2001@gmail.com</cp:lastModifiedBy>
  <cp:revision>3</cp:revision>
  <dcterms:created xsi:type="dcterms:W3CDTF">2026-10-02T15:08:42Z</dcterms:created>
  <dcterms:modified xsi:type="dcterms:W3CDTF">2026-10-04T15:57:58Z</dcterms:modified>
</cp:coreProperties>
</file>